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handoutMasterIdLst>
    <p:handoutMasterId r:id="rId36"/>
  </p:handoutMasterIdLst>
  <p:sldIdLst>
    <p:sldId id="256" r:id="rId5"/>
    <p:sldId id="257" r:id="rId6"/>
    <p:sldId id="259" r:id="rId7"/>
    <p:sldId id="260" r:id="rId8"/>
    <p:sldId id="278" r:id="rId9"/>
    <p:sldId id="279" r:id="rId10"/>
    <p:sldId id="280" r:id="rId11"/>
    <p:sldId id="281" r:id="rId12"/>
    <p:sldId id="258" r:id="rId13"/>
    <p:sldId id="282" r:id="rId14"/>
    <p:sldId id="262" r:id="rId15"/>
    <p:sldId id="263" r:id="rId16"/>
    <p:sldId id="264" r:id="rId17"/>
    <p:sldId id="261"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83" r:id="rId32"/>
    <p:sldId id="284" r:id="rId33"/>
    <p:sldId id="2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E2CA49-74CD-42A3-A432-FAD13C948AFA}" v="2" dt="2026-05-10T09:48:24.0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19" autoAdjust="0"/>
    <p:restoredTop sz="94660"/>
  </p:normalViewPr>
  <p:slideViewPr>
    <p:cSldViewPr snapToGrid="0">
      <p:cViewPr varScale="1">
        <p:scale>
          <a:sx n="61" d="100"/>
          <a:sy n="61" d="100"/>
        </p:scale>
        <p:origin x="486" y="66"/>
      </p:cViewPr>
      <p:guideLst/>
    </p:cSldViewPr>
  </p:slideViewPr>
  <p:notesTextViewPr>
    <p:cViewPr>
      <p:scale>
        <a:sx n="1" d="1"/>
        <a:sy n="1" d="1"/>
      </p:scale>
      <p:origin x="0" y="0"/>
    </p:cViewPr>
  </p:notesTextViewPr>
  <p:notesViewPr>
    <p:cSldViewPr snapToGrid="0">
      <p:cViewPr varScale="1">
        <p:scale>
          <a:sx n="50" d="100"/>
          <a:sy n="50" d="100"/>
        </p:scale>
        <p:origin x="2886" y="4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25AB03-B2C8-2DE8-5347-38D9F64B74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18B4A2A-05AC-F052-199E-0C2D344389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286BA2-9F2A-443A-9018-D65C1F36139F}" type="datetimeFigureOut">
              <a:rPr lang="en-IN" smtClean="0"/>
              <a:t>13-05-2026</a:t>
            </a:fld>
            <a:endParaRPr lang="en-IN"/>
          </a:p>
        </p:txBody>
      </p:sp>
      <p:sp>
        <p:nvSpPr>
          <p:cNvPr id="4" name="Footer Placeholder 3">
            <a:extLst>
              <a:ext uri="{FF2B5EF4-FFF2-40B4-BE49-F238E27FC236}">
                <a16:creationId xmlns:a16="http://schemas.microsoft.com/office/drawing/2014/main" id="{3C631061-3CE0-56DA-FEB6-F6DBD2EB0CE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8736B77-00C6-F9F5-676C-9DFBC633452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9922B0-7D10-4A7D-842E-A114BBDAC323}" type="slidenum">
              <a:rPr lang="en-IN" smtClean="0"/>
              <a:t>‹#›</a:t>
            </a:fld>
            <a:endParaRPr lang="en-IN"/>
          </a:p>
        </p:txBody>
      </p:sp>
    </p:spTree>
    <p:extLst>
      <p:ext uri="{BB962C8B-B14F-4D97-AF65-F5344CB8AC3E}">
        <p14:creationId xmlns:p14="http://schemas.microsoft.com/office/powerpoint/2010/main" val="2558449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2E968C-8B4D-4819-B596-2254A0185621}" type="datetimeFigureOut">
              <a:rPr lang="en-IN" smtClean="0"/>
              <a:t>13-05-2026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C707A6-4B04-4CB0-9F73-F14BBA3E59F3}" type="slidenum">
              <a:rPr lang="en-IN" smtClean="0"/>
              <a:t>‹#›</a:t>
            </a:fld>
            <a:endParaRPr lang="en-IN"/>
          </a:p>
        </p:txBody>
      </p:sp>
    </p:spTree>
    <p:extLst>
      <p:ext uri="{BB962C8B-B14F-4D97-AF65-F5344CB8AC3E}">
        <p14:creationId xmlns:p14="http://schemas.microsoft.com/office/powerpoint/2010/main" val="1575265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C707A6-4B04-4CB0-9F73-F14BBA3E59F3}" type="slidenum">
              <a:rPr lang="en-IN" smtClean="0"/>
              <a:t>4</a:t>
            </a:fld>
            <a:endParaRPr lang="en-IN"/>
          </a:p>
        </p:txBody>
      </p:sp>
    </p:spTree>
    <p:extLst>
      <p:ext uri="{BB962C8B-B14F-4D97-AF65-F5344CB8AC3E}">
        <p14:creationId xmlns:p14="http://schemas.microsoft.com/office/powerpoint/2010/main" val="28395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C707A6-4B04-4CB0-9F73-F14BBA3E59F3}" type="slidenum">
              <a:rPr lang="en-IN" smtClean="0"/>
              <a:t>23</a:t>
            </a:fld>
            <a:endParaRPr lang="en-IN"/>
          </a:p>
        </p:txBody>
      </p:sp>
    </p:spTree>
    <p:extLst>
      <p:ext uri="{BB962C8B-B14F-4D97-AF65-F5344CB8AC3E}">
        <p14:creationId xmlns:p14="http://schemas.microsoft.com/office/powerpoint/2010/main" val="3239272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C707A6-4B04-4CB0-9F73-F14BBA3E59F3}" type="slidenum">
              <a:rPr lang="en-IN" smtClean="0"/>
              <a:t>29</a:t>
            </a:fld>
            <a:endParaRPr lang="en-IN"/>
          </a:p>
        </p:txBody>
      </p:sp>
    </p:spTree>
    <p:extLst>
      <p:ext uri="{BB962C8B-B14F-4D97-AF65-F5344CB8AC3E}">
        <p14:creationId xmlns:p14="http://schemas.microsoft.com/office/powerpoint/2010/main" val="129048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C707A6-4B04-4CB0-9F73-F14BBA3E59F3}" type="slidenum">
              <a:rPr lang="en-IN" smtClean="0"/>
              <a:t>30</a:t>
            </a:fld>
            <a:endParaRPr lang="en-IN"/>
          </a:p>
        </p:txBody>
      </p:sp>
    </p:spTree>
    <p:extLst>
      <p:ext uri="{BB962C8B-B14F-4D97-AF65-F5344CB8AC3E}">
        <p14:creationId xmlns:p14="http://schemas.microsoft.com/office/powerpoint/2010/main" val="1264629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61D6-0DBD-5508-987E-8F6CF334CB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C50BC4-531A-A659-4C38-BE05CF2377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09D1D2-C84B-976B-2D31-DF76A85FE0FF}"/>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5" name="Footer Placeholder 4">
            <a:extLst>
              <a:ext uri="{FF2B5EF4-FFF2-40B4-BE49-F238E27FC236}">
                <a16:creationId xmlns:a16="http://schemas.microsoft.com/office/drawing/2014/main" id="{4D18D509-80D8-129B-829E-3D9A819EB7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71F579-E7A8-F948-478E-DC37228B2F96}"/>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1499092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821A-9261-1E77-3771-2EDE24084D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716C3F-461C-D130-DC53-BAEEF1E6A0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5EC63B-A220-B68D-C4FB-AF7FB8D21475}"/>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5" name="Footer Placeholder 4">
            <a:extLst>
              <a:ext uri="{FF2B5EF4-FFF2-40B4-BE49-F238E27FC236}">
                <a16:creationId xmlns:a16="http://schemas.microsoft.com/office/drawing/2014/main" id="{84110A6E-3D48-5CE2-6DD6-C133E95252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DCF3CC-E9CC-0E79-3FC8-104EC105B601}"/>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319602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A26C3-E463-C58F-A73F-9B0107B4A5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05A8C9-95D3-C907-3778-3EEC0CB7CC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DF4E6-4455-0931-6251-CD79D2BAF92D}"/>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5" name="Footer Placeholder 4">
            <a:extLst>
              <a:ext uri="{FF2B5EF4-FFF2-40B4-BE49-F238E27FC236}">
                <a16:creationId xmlns:a16="http://schemas.microsoft.com/office/drawing/2014/main" id="{7A884851-97F3-60C4-0891-07DF7C27B8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66B87-235C-E2A1-B6B9-2CE2CB5E441B}"/>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1487921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6B802-AAA5-9986-7921-0F24F4BF25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7BB6DF-0F2B-3394-4A0B-794F478B20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27E04E-DF17-EF89-CDA2-C331909B7D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5F6D1D-1A1C-53D7-53C4-03189CCE2A93}"/>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6" name="Footer Placeholder 5">
            <a:extLst>
              <a:ext uri="{FF2B5EF4-FFF2-40B4-BE49-F238E27FC236}">
                <a16:creationId xmlns:a16="http://schemas.microsoft.com/office/drawing/2014/main" id="{BC96B9A5-C967-D62A-8982-AA5E4431EC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EF4986-05A2-D3C9-3FCD-B61B526AADA5}"/>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1120922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A25B0-D650-36D5-0185-7438FB058C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2067A5-570B-E539-89BA-358026C677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C3E740-7776-7CB7-AD20-7E12395618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088803-4F11-F965-F25E-FAB7E86F38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33DB87-EB9C-2BD8-F829-A6F2753448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AFD6EA-9A91-485F-EF1D-1F3F12373CBE}"/>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8" name="Footer Placeholder 7">
            <a:extLst>
              <a:ext uri="{FF2B5EF4-FFF2-40B4-BE49-F238E27FC236}">
                <a16:creationId xmlns:a16="http://schemas.microsoft.com/office/drawing/2014/main" id="{6D70F7F3-E226-C119-57C7-4CAF1CE265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09B9CF-146D-5D4B-7360-C144B5D4F932}"/>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151537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E18E-DFF2-9976-B9B7-9BF8822CB9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532E23-70D7-B7EC-8997-8DE57EF53AE6}"/>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4" name="Footer Placeholder 3">
            <a:extLst>
              <a:ext uri="{FF2B5EF4-FFF2-40B4-BE49-F238E27FC236}">
                <a16:creationId xmlns:a16="http://schemas.microsoft.com/office/drawing/2014/main" id="{EAD0E353-C54C-2FAC-E7E0-3C51776913B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BB9AE7-ACF6-6333-829F-DC4A58B53BEC}"/>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144231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AAB7EF-C569-4FD8-B3F4-AAF2F9B0243C}"/>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3" name="Footer Placeholder 2">
            <a:extLst>
              <a:ext uri="{FF2B5EF4-FFF2-40B4-BE49-F238E27FC236}">
                <a16:creationId xmlns:a16="http://schemas.microsoft.com/office/drawing/2014/main" id="{9E112413-BB4F-38F2-4753-FA2ACB2456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57BBBCB-524E-226B-B9F1-096036442EBF}"/>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417709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4AB9B-5390-EBEC-2349-BBEE91546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F0E343-8A8E-383D-20BC-E87EFA420F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B0E34B-5DE3-4E38-6DFF-2D82AC07B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944A0B-F2C6-FEBA-F8B2-45A5E49C2B03}"/>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6" name="Footer Placeholder 5">
            <a:extLst>
              <a:ext uri="{FF2B5EF4-FFF2-40B4-BE49-F238E27FC236}">
                <a16:creationId xmlns:a16="http://schemas.microsoft.com/office/drawing/2014/main" id="{D8C54F31-B808-3211-0FC5-BB4AD21685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590CD0-166D-00BE-883A-92DA09C68013}"/>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1304555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3995-00EB-83F6-A9A0-A826469547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76A802-C134-77A6-CB47-654607EBC4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EA237F-1F93-D7F7-BCF8-437B6B2FB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8CFC3-85ED-AD37-4A41-C9606E93F53F}"/>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6" name="Footer Placeholder 5">
            <a:extLst>
              <a:ext uri="{FF2B5EF4-FFF2-40B4-BE49-F238E27FC236}">
                <a16:creationId xmlns:a16="http://schemas.microsoft.com/office/drawing/2014/main" id="{DC51A8E2-68F3-F990-F5E8-C26F9B0F30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8F4A75-A379-ECF5-EFFD-B0E7C4F6D42D}"/>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865452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1799-E2B2-7206-D0C5-87A7BCE6DF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943C60-018D-5B9F-3498-B59DBB149F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031B51-DAE9-4265-999F-A672953CED3B}"/>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5" name="Footer Placeholder 4">
            <a:extLst>
              <a:ext uri="{FF2B5EF4-FFF2-40B4-BE49-F238E27FC236}">
                <a16:creationId xmlns:a16="http://schemas.microsoft.com/office/drawing/2014/main" id="{CB4E8493-34E4-1206-C0DD-1D9F3DF86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86F7F0-9ACB-4137-7F7A-B8F026E8B96F}"/>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560453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8DD5C-97FE-5EE0-0E7F-DF9270DEA6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71D09F-4F84-31DF-B339-1AA1FA9696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39C267-42B0-EE15-3801-96573D1E8761}"/>
              </a:ext>
            </a:extLst>
          </p:cNvPr>
          <p:cNvSpPr>
            <a:spLocks noGrp="1"/>
          </p:cNvSpPr>
          <p:nvPr>
            <p:ph type="dt" sz="half" idx="10"/>
          </p:nvPr>
        </p:nvSpPr>
        <p:spPr/>
        <p:txBody>
          <a:bodyPr/>
          <a:lstStyle/>
          <a:p>
            <a:fld id="{7BDAD34B-9641-44C7-A5B1-E00CA4B6F528}" type="datetimeFigureOut">
              <a:rPr lang="en-IN" smtClean="0"/>
              <a:t>13-05-2026</a:t>
            </a:fld>
            <a:endParaRPr lang="en-IN"/>
          </a:p>
        </p:txBody>
      </p:sp>
      <p:sp>
        <p:nvSpPr>
          <p:cNvPr id="5" name="Footer Placeholder 4">
            <a:extLst>
              <a:ext uri="{FF2B5EF4-FFF2-40B4-BE49-F238E27FC236}">
                <a16:creationId xmlns:a16="http://schemas.microsoft.com/office/drawing/2014/main" id="{9A243CB1-78D7-9E6B-12DE-358C1DD55E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25A239-7358-250B-5B14-B0BB610249B9}"/>
              </a:ext>
            </a:extLst>
          </p:cNvPr>
          <p:cNvSpPr>
            <a:spLocks noGrp="1"/>
          </p:cNvSpPr>
          <p:nvPr>
            <p:ph type="sldNum" sz="quarter" idx="12"/>
          </p:nvPr>
        </p:nvSpPr>
        <p:spPr/>
        <p:txBody>
          <a:bodyPr/>
          <a:lstStyle/>
          <a:p>
            <a:fld id="{11960C97-02E2-4F0E-AAF8-430158D579BC}" type="slidenum">
              <a:rPr lang="en-IN" smtClean="0"/>
              <a:t>‹#›</a:t>
            </a:fld>
            <a:endParaRPr lang="en-IN"/>
          </a:p>
        </p:txBody>
      </p:sp>
    </p:spTree>
    <p:extLst>
      <p:ext uri="{BB962C8B-B14F-4D97-AF65-F5344CB8AC3E}">
        <p14:creationId xmlns:p14="http://schemas.microsoft.com/office/powerpoint/2010/main" val="2867794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F50045-18FE-466A-F8D2-8E79D87FD7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194D50-8804-6CDC-2251-447E8CCAEF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89F658-55CD-057B-D18C-36F79448D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DAD34B-9641-44C7-A5B1-E00CA4B6F528}" type="datetimeFigureOut">
              <a:rPr lang="en-IN" smtClean="0"/>
              <a:t>13-05-2026</a:t>
            </a:fld>
            <a:endParaRPr lang="en-IN"/>
          </a:p>
        </p:txBody>
      </p:sp>
      <p:sp>
        <p:nvSpPr>
          <p:cNvPr id="5" name="Footer Placeholder 4">
            <a:extLst>
              <a:ext uri="{FF2B5EF4-FFF2-40B4-BE49-F238E27FC236}">
                <a16:creationId xmlns:a16="http://schemas.microsoft.com/office/drawing/2014/main" id="{9355D946-F6F2-674F-95D0-AAB07C3D5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9885AB9-F59D-A670-EEE9-93EF70B270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960C97-02E2-4F0E-AAF8-430158D579BC}" type="slidenum">
              <a:rPr lang="en-IN" smtClean="0"/>
              <a:t>‹#›</a:t>
            </a:fld>
            <a:endParaRPr lang="en-IN"/>
          </a:p>
        </p:txBody>
      </p:sp>
    </p:spTree>
    <p:extLst>
      <p:ext uri="{BB962C8B-B14F-4D97-AF65-F5344CB8AC3E}">
        <p14:creationId xmlns:p14="http://schemas.microsoft.com/office/powerpoint/2010/main" val="66949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68F49-B0F0-9D3E-2FCA-F845E79A172F}"/>
              </a:ext>
            </a:extLst>
          </p:cNvPr>
          <p:cNvSpPr>
            <a:spLocks noGrp="1"/>
          </p:cNvSpPr>
          <p:nvPr>
            <p:ph type="ctrTitle"/>
          </p:nvPr>
        </p:nvSpPr>
        <p:spPr>
          <a:xfrm>
            <a:off x="1413641" y="2081048"/>
            <a:ext cx="9144000" cy="567559"/>
          </a:xfrm>
        </p:spPr>
        <p:txBody>
          <a:bodyPr>
            <a:normAutofit/>
          </a:bodyPr>
          <a:lstStyle/>
          <a:p>
            <a:r>
              <a:rPr lang="en-US" sz="2000" b="1" dirty="0">
                <a:latin typeface="Times New Roman" panose="02020603050405020304" pitchFamily="18" charset="0"/>
                <a:cs typeface="Times New Roman" panose="02020603050405020304" pitchFamily="18" charset="0"/>
              </a:rPr>
              <a:t>DEPARTMENT OF ARTIFICIAL INTELLIGENCE AND DATA SCIENCE</a:t>
            </a:r>
            <a:endParaRPr lang="en-IN" sz="2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C97BCA3-4E2E-8ED9-41DE-FEEE42B4A8BE}"/>
              </a:ext>
            </a:extLst>
          </p:cNvPr>
          <p:cNvSpPr>
            <a:spLocks noGrp="1"/>
          </p:cNvSpPr>
          <p:nvPr>
            <p:ph type="subTitle" idx="1"/>
          </p:nvPr>
        </p:nvSpPr>
        <p:spPr>
          <a:xfrm>
            <a:off x="1524000" y="4059238"/>
            <a:ext cx="5538952" cy="1655762"/>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PRESENTED BY </a:t>
            </a:r>
          </a:p>
          <a:p>
            <a:endParaRPr 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ADHINARAYANAN .S        -   410122243004 SASIKUMAR .P            -  410122243044 SURIYAMOORTHY . K        -   410122243051 </a:t>
            </a:r>
          </a:p>
          <a:p>
            <a:endParaRPr lang="en-IN" dirty="0"/>
          </a:p>
        </p:txBody>
      </p:sp>
      <p:pic>
        <p:nvPicPr>
          <p:cNvPr id="4" name="Image 8">
            <a:extLst>
              <a:ext uri="{FF2B5EF4-FFF2-40B4-BE49-F238E27FC236}">
                <a16:creationId xmlns:a16="http://schemas.microsoft.com/office/drawing/2014/main" id="{F8E86221-2AA3-DF0F-F673-3B836083FF84}"/>
              </a:ext>
            </a:extLst>
          </p:cNvPr>
          <p:cNvPicPr>
            <a:picLocks/>
          </p:cNvPicPr>
          <p:nvPr/>
        </p:nvPicPr>
        <p:blipFill>
          <a:blip r:embed="rId2" cstate="print"/>
          <a:stretch>
            <a:fillRect/>
          </a:stretch>
        </p:blipFill>
        <p:spPr>
          <a:xfrm>
            <a:off x="1878568" y="404104"/>
            <a:ext cx="2409653" cy="1304775"/>
          </a:xfrm>
          <a:prstGeom prst="rect">
            <a:avLst/>
          </a:prstGeom>
        </p:spPr>
      </p:pic>
      <p:pic>
        <p:nvPicPr>
          <p:cNvPr id="5" name="Image 3">
            <a:extLst>
              <a:ext uri="{FF2B5EF4-FFF2-40B4-BE49-F238E27FC236}">
                <a16:creationId xmlns:a16="http://schemas.microsoft.com/office/drawing/2014/main" id="{6A678A8C-16E3-2AE8-F1D5-F52E24FF8C9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5657" y="585152"/>
            <a:ext cx="4301983" cy="1123727"/>
          </a:xfrm>
          <a:prstGeom prst="rect">
            <a:avLst/>
          </a:prstGeom>
        </p:spPr>
      </p:pic>
      <p:sp>
        <p:nvSpPr>
          <p:cNvPr id="6" name="Title 1">
            <a:extLst>
              <a:ext uri="{FF2B5EF4-FFF2-40B4-BE49-F238E27FC236}">
                <a16:creationId xmlns:a16="http://schemas.microsoft.com/office/drawing/2014/main" id="{875A5E48-C7AD-BC44-C72F-C3AAFA704814}"/>
              </a:ext>
            </a:extLst>
          </p:cNvPr>
          <p:cNvSpPr txBox="1">
            <a:spLocks/>
          </p:cNvSpPr>
          <p:nvPr/>
        </p:nvSpPr>
        <p:spPr>
          <a:xfrm>
            <a:off x="1524000" y="2798762"/>
            <a:ext cx="9144000" cy="12604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AI-POWERED DEEP FAKE VIDEO DETECTION USING </a:t>
            </a:r>
          </a:p>
          <a:p>
            <a:r>
              <a:rPr lang="en-US" sz="2400" b="1" dirty="0">
                <a:latin typeface="Times New Roman" panose="02020603050405020304" pitchFamily="18" charset="0"/>
                <a:cs typeface="Times New Roman" panose="02020603050405020304" pitchFamily="18" charset="0"/>
              </a:rPr>
              <a:t>BI-LSTM FOR STRENGTHENING SOCIAL MEDIA SECURITY</a:t>
            </a:r>
            <a:endParaRPr lang="en-IN" sz="2400" b="1"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68350060-06A1-D40B-2D82-CA567572CD44}"/>
              </a:ext>
            </a:extLst>
          </p:cNvPr>
          <p:cNvSpPr txBox="1">
            <a:spLocks/>
          </p:cNvSpPr>
          <p:nvPr/>
        </p:nvSpPr>
        <p:spPr>
          <a:xfrm>
            <a:off x="7441324" y="4059238"/>
            <a:ext cx="3641835"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dirty="0"/>
          </a:p>
        </p:txBody>
      </p:sp>
      <p:sp>
        <p:nvSpPr>
          <p:cNvPr id="9" name="TextBox 8">
            <a:extLst>
              <a:ext uri="{FF2B5EF4-FFF2-40B4-BE49-F238E27FC236}">
                <a16:creationId xmlns:a16="http://schemas.microsoft.com/office/drawing/2014/main" id="{104DCF3F-E43A-5DCD-D422-335B7C69613E}"/>
              </a:ext>
            </a:extLst>
          </p:cNvPr>
          <p:cNvSpPr txBox="1"/>
          <p:nvPr/>
        </p:nvSpPr>
        <p:spPr>
          <a:xfrm>
            <a:off x="7828894" y="4059238"/>
            <a:ext cx="3049313" cy="1532727"/>
          </a:xfrm>
          <a:prstGeom prst="rect">
            <a:avLst/>
          </a:prstGeom>
          <a:noFill/>
        </p:spPr>
        <p:txBody>
          <a:bodyPr wrap="square">
            <a:spAutoFit/>
          </a:bodyPr>
          <a:lstStyle/>
          <a:p>
            <a:pPr algn="just">
              <a:spcBef>
                <a:spcPct val="20000"/>
              </a:spcBef>
            </a:pPr>
            <a:r>
              <a:rPr lang="en-US" sz="1800" b="1" dirty="0"/>
              <a:t> </a:t>
            </a:r>
            <a:r>
              <a:rPr lang="en-IN" sz="1800" b="1" dirty="0">
                <a:latin typeface="Times New Roman"/>
                <a:cs typeface="Times New Roman"/>
              </a:rPr>
              <a:t>SUPERVISED BY:</a:t>
            </a:r>
          </a:p>
          <a:p>
            <a:pPr lvl="0" algn="just">
              <a:spcBef>
                <a:spcPct val="20000"/>
              </a:spcBef>
            </a:pP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IN" sz="1800" dirty="0">
                <a:latin typeface="Times New Roman"/>
                <a:cs typeface="Times New Roman"/>
              </a:rPr>
              <a:t>Ms. ASHA MARY, M.E,</a:t>
            </a:r>
          </a:p>
          <a:p>
            <a:r>
              <a:rPr lang="en-IN" sz="1800" dirty="0">
                <a:latin typeface="Times New Roman"/>
                <a:cs typeface="Times New Roman"/>
              </a:rPr>
              <a:t>ASSISTANT PROFESSOR,</a:t>
            </a:r>
          </a:p>
          <a:p>
            <a:r>
              <a:rPr lang="en-IN" sz="1800" dirty="0">
                <a:latin typeface="Times New Roman"/>
                <a:cs typeface="Times New Roman"/>
              </a:rPr>
              <a:t>AI&amp;DS DEPARTMENT.</a:t>
            </a:r>
            <a:endParaRPr lang="en-IN" dirty="0"/>
          </a:p>
        </p:txBody>
      </p:sp>
    </p:spTree>
    <p:extLst>
      <p:ext uri="{BB962C8B-B14F-4D97-AF65-F5344CB8AC3E}">
        <p14:creationId xmlns:p14="http://schemas.microsoft.com/office/powerpoint/2010/main" val="386501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C51EA5-01BF-ACD2-FF1D-C0D07D54A454}"/>
              </a:ext>
            </a:extLst>
          </p:cNvPr>
          <p:cNvSpPr txBox="1"/>
          <p:nvPr/>
        </p:nvSpPr>
        <p:spPr>
          <a:xfrm flipH="1">
            <a:off x="599089" y="504497"/>
            <a:ext cx="2380593" cy="430887"/>
          </a:xfrm>
          <a:prstGeom prst="rect">
            <a:avLst/>
          </a:prstGeom>
          <a:noFill/>
        </p:spPr>
        <p:txBody>
          <a:bodyPr wrap="square">
            <a:spAutoFit/>
          </a:bodyPr>
          <a:lstStyle/>
          <a:p>
            <a:pPr algn="ctr"/>
            <a:r>
              <a:rPr lang="en-US" sz="2200" b="1" dirty="0">
                <a:latin typeface="Times New Roman" pitchFamily="18" charset="0"/>
                <a:cs typeface="Times New Roman" pitchFamily="18" charset="0"/>
              </a:rPr>
              <a:t>ABSTRACT</a:t>
            </a:r>
            <a:endParaRPr lang="en-IN" sz="2200" dirty="0"/>
          </a:p>
        </p:txBody>
      </p:sp>
      <p:sp>
        <p:nvSpPr>
          <p:cNvPr id="4" name="TextBox 3">
            <a:extLst>
              <a:ext uri="{FF2B5EF4-FFF2-40B4-BE49-F238E27FC236}">
                <a16:creationId xmlns:a16="http://schemas.microsoft.com/office/drawing/2014/main" id="{41467EC2-7314-0AF7-32F8-C89ECEB4897F}"/>
              </a:ext>
            </a:extLst>
          </p:cNvPr>
          <p:cNvSpPr txBox="1"/>
          <p:nvPr/>
        </p:nvSpPr>
        <p:spPr>
          <a:xfrm>
            <a:off x="1119351" y="1140336"/>
            <a:ext cx="10216056" cy="507831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Deepfake technology has emerged as a significant threat in the digital era, enabling the creation of highly realistic yet manipulated videos that can spread misinformation, damage reputations, and compromise digital security. Detecting such fabricated media is challenging because traditional detection techniques often fail to capture subtle spatial and temporal inconsistencies present in manipulated content. This project proposes an advanced deepfake detection framework that integrates Efficient Net and Vision Transformer (VIT) models for powerful spatial feature extraction, combined with a Bidirectional Long Short-Term Memory (Bi-LSTM) network to analyze temporal relationships between video frames. The system supports both video file uploads and YouTube URL inputs, providing flexible options for real-time analysis. During processing, videos are divided into frames, facial features are extracted, and the sequence is analyzed to determine whether the content is real or fake. The system also generates a probability score to indicate prediction confidence and produces a concise authenticity report. Experimental results demonstrate strong performance, achieving a validation accuracy of 95.08%, test accuracy of 86.67%, and an F1-score of 0.87. By combining CNN and transformer-based architectures with temporal modeling, the proposed system improves accuracy, robustness, and reliability in identifying manipulated media.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Keywords: Deepfake Detection, Efficient Net, Vision Transformer (VIT), Bi-LSTM, Computer Vision, Machine Learning, Video Forensics, Artificial Intelligence, Temporal Analysis, Misinformation Detection.</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150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71936C-BCD3-7DF1-F394-706562705366}"/>
              </a:ext>
            </a:extLst>
          </p:cNvPr>
          <p:cNvSpPr txBox="1"/>
          <p:nvPr/>
        </p:nvSpPr>
        <p:spPr>
          <a:xfrm>
            <a:off x="524203" y="390775"/>
            <a:ext cx="6093372" cy="430887"/>
          </a:xfrm>
          <a:prstGeom prst="rect">
            <a:avLst/>
          </a:prstGeom>
          <a:noFill/>
        </p:spPr>
        <p:txBody>
          <a:bodyPr wrap="square">
            <a:spAutoFit/>
          </a:bodyPr>
          <a:lstStyle/>
          <a:p>
            <a:pPr algn="just"/>
            <a:r>
              <a:rPr lang="en-US" sz="2200" b="1" dirty="0">
                <a:latin typeface="Times New Roman" pitchFamily="18" charset="0"/>
                <a:cs typeface="Times New Roman" pitchFamily="18" charset="0"/>
              </a:rPr>
              <a:t>INTRODUCTION</a:t>
            </a:r>
            <a:endParaRPr lang="en-IN" sz="2200" dirty="0"/>
          </a:p>
        </p:txBody>
      </p:sp>
      <p:sp>
        <p:nvSpPr>
          <p:cNvPr id="7" name="TextBox 6">
            <a:extLst>
              <a:ext uri="{FF2B5EF4-FFF2-40B4-BE49-F238E27FC236}">
                <a16:creationId xmlns:a16="http://schemas.microsoft.com/office/drawing/2014/main" id="{7FD00A97-9274-CF31-B8AF-49750178BCEB}"/>
              </a:ext>
            </a:extLst>
          </p:cNvPr>
          <p:cNvSpPr txBox="1"/>
          <p:nvPr/>
        </p:nvSpPr>
        <p:spPr>
          <a:xfrm>
            <a:off x="790903" y="606218"/>
            <a:ext cx="10610193" cy="530555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Deepfake technology has become a serious threat in the digital era, enabling the creation of highly realistic but manipulated videos that can spread misinformation, harm reputations, and compromise digital security. Detecting such content is difficult because traditional methods often fail to identify subtle visual and temporal inconsistencies.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overcome these limitations, this project introduces an advanced deepfake detection framework that combines Efficient Net and Vision Transformer (VIT) to extract both detailed and global visual features from video frames.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Bidirectional Long Short-Term Memory (Bi-LSTM) network is used to analyze temporal relationships between consecutive frames, helping to detect motion-based inconsistencies that are not visible in individual frames.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both video uploads and YouTube URL inputs, processes videos frame-by-frame </a:t>
            </a:r>
            <a:r>
              <a:rPr kumimoji="0" lang="en-I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classifies them as real or fake with a confidence score. It also generates a concise report, improving accuracy, robustness, and reliability in detecting deepfake content. </a:t>
            </a:r>
          </a:p>
        </p:txBody>
      </p:sp>
    </p:spTree>
    <p:extLst>
      <p:ext uri="{BB962C8B-B14F-4D97-AF65-F5344CB8AC3E}">
        <p14:creationId xmlns:p14="http://schemas.microsoft.com/office/powerpoint/2010/main" val="3133453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86DE480-0186-BA48-0B32-F4E0E5F777E9}"/>
              </a:ext>
            </a:extLst>
          </p:cNvPr>
          <p:cNvSpPr txBox="1"/>
          <p:nvPr/>
        </p:nvSpPr>
        <p:spPr>
          <a:xfrm>
            <a:off x="682172" y="312839"/>
            <a:ext cx="6096000" cy="430887"/>
          </a:xfrm>
          <a:prstGeom prst="rect">
            <a:avLst/>
          </a:prstGeom>
          <a:noFill/>
        </p:spPr>
        <p:txBody>
          <a:bodyPr wrap="square">
            <a:spAutoFit/>
          </a:bodyPr>
          <a:lstStyle/>
          <a:p>
            <a:r>
              <a:rPr lang="en-US" sz="2200" b="1" dirty="0">
                <a:latin typeface="Times New Roman" pitchFamily="18" charset="0"/>
                <a:cs typeface="Times New Roman" pitchFamily="18" charset="0"/>
              </a:rPr>
              <a:t>LITERATURE SURVEY</a:t>
            </a:r>
            <a:endParaRPr lang="en-IN" sz="2200" dirty="0"/>
          </a:p>
        </p:txBody>
      </p:sp>
      <p:graphicFrame>
        <p:nvGraphicFramePr>
          <p:cNvPr id="23" name="Table 22">
            <a:extLst>
              <a:ext uri="{FF2B5EF4-FFF2-40B4-BE49-F238E27FC236}">
                <a16:creationId xmlns:a16="http://schemas.microsoft.com/office/drawing/2014/main" id="{117AB420-53DC-0C06-550D-3306AF732F98}"/>
              </a:ext>
            </a:extLst>
          </p:cNvPr>
          <p:cNvGraphicFramePr>
            <a:graphicFrameLocks noGrp="1"/>
          </p:cNvGraphicFramePr>
          <p:nvPr>
            <p:extLst>
              <p:ext uri="{D42A27DB-BD31-4B8C-83A1-F6EECF244321}">
                <p14:modId xmlns:p14="http://schemas.microsoft.com/office/powerpoint/2010/main" val="2648657259"/>
              </p:ext>
            </p:extLst>
          </p:nvPr>
        </p:nvGraphicFramePr>
        <p:xfrm>
          <a:off x="708090" y="1013498"/>
          <a:ext cx="10775820" cy="5131933"/>
        </p:xfrm>
        <a:graphic>
          <a:graphicData uri="http://schemas.openxmlformats.org/drawingml/2006/table">
            <a:tbl>
              <a:tblPr/>
              <a:tblGrid>
                <a:gridCol w="657897">
                  <a:extLst>
                    <a:ext uri="{9D8B030D-6E8A-4147-A177-3AD203B41FA5}">
                      <a16:colId xmlns:a16="http://schemas.microsoft.com/office/drawing/2014/main" val="508536491"/>
                    </a:ext>
                  </a:extLst>
                </a:gridCol>
                <a:gridCol w="2934043">
                  <a:extLst>
                    <a:ext uri="{9D8B030D-6E8A-4147-A177-3AD203B41FA5}">
                      <a16:colId xmlns:a16="http://schemas.microsoft.com/office/drawing/2014/main" val="3307416351"/>
                    </a:ext>
                  </a:extLst>
                </a:gridCol>
                <a:gridCol w="1795970">
                  <a:extLst>
                    <a:ext uri="{9D8B030D-6E8A-4147-A177-3AD203B41FA5}">
                      <a16:colId xmlns:a16="http://schemas.microsoft.com/office/drawing/2014/main" val="1660455935"/>
                    </a:ext>
                  </a:extLst>
                </a:gridCol>
                <a:gridCol w="1795970">
                  <a:extLst>
                    <a:ext uri="{9D8B030D-6E8A-4147-A177-3AD203B41FA5}">
                      <a16:colId xmlns:a16="http://schemas.microsoft.com/office/drawing/2014/main" val="1168435859"/>
                    </a:ext>
                  </a:extLst>
                </a:gridCol>
                <a:gridCol w="1795970">
                  <a:extLst>
                    <a:ext uri="{9D8B030D-6E8A-4147-A177-3AD203B41FA5}">
                      <a16:colId xmlns:a16="http://schemas.microsoft.com/office/drawing/2014/main" val="304493797"/>
                    </a:ext>
                  </a:extLst>
                </a:gridCol>
                <a:gridCol w="1795970">
                  <a:extLst>
                    <a:ext uri="{9D8B030D-6E8A-4147-A177-3AD203B41FA5}">
                      <a16:colId xmlns:a16="http://schemas.microsoft.com/office/drawing/2014/main" val="278736961"/>
                    </a:ext>
                  </a:extLst>
                </a:gridCol>
              </a:tblGrid>
              <a:tr h="513194">
                <a:tc>
                  <a:txBody>
                    <a:bodyPr/>
                    <a:lstStyle/>
                    <a:p>
                      <a:pPr>
                        <a:buNone/>
                      </a:pPr>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Title</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Methodology Used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Advantages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Disadvantages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2099449"/>
                  </a:ext>
                </a:extLst>
              </a:tr>
              <a:tr h="1832833">
                <a:tc>
                  <a:txBody>
                    <a:bodyPr/>
                    <a:lstStyle/>
                    <a:p>
                      <a:pPr>
                        <a:buNone/>
                      </a:pPr>
                      <a:r>
                        <a:rPr lang="en-IN" sz="1600" dirty="0">
                          <a:latin typeface="Times New Roman" panose="02020603050405020304" pitchFamily="18" charset="0"/>
                          <a:cs typeface="Times New Roman" panose="02020603050405020304" pitchFamily="18" charset="0"/>
                        </a:rPr>
                        <a:t>1</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err="1">
                          <a:latin typeface="Times New Roman" panose="02020603050405020304" pitchFamily="18" charset="0"/>
                          <a:cs typeface="Times New Roman" panose="02020603050405020304" pitchFamily="18" charset="0"/>
                        </a:rPr>
                        <a:t>BMNet</a:t>
                      </a:r>
                      <a:r>
                        <a:rPr lang="en-US" sz="1600" dirty="0">
                          <a:latin typeface="Times New Roman" panose="02020603050405020304" pitchFamily="18" charset="0"/>
                          <a:cs typeface="Times New Roman" panose="02020603050405020304" pitchFamily="18" charset="0"/>
                        </a:rPr>
                        <a:t>: Enhancing Deepfake Detection Through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and Multi-Head Self-Attention Mechanism</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Demao Xiong et al., 2024</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BiLSTM + MHSA</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Captures temporal and local forgery features effectively.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High computational complexity.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390928"/>
                  </a:ext>
                </a:extLst>
              </a:tr>
              <a:tr h="1392953">
                <a:tc>
                  <a:txBody>
                    <a:bodyPr/>
                    <a:lstStyle/>
                    <a:p>
                      <a:pPr>
                        <a:buNone/>
                      </a:pPr>
                      <a:r>
                        <a:rPr lang="en-IN" sz="1600">
                          <a:latin typeface="Times New Roman" panose="02020603050405020304" pitchFamily="18" charset="0"/>
                          <a:cs typeface="Times New Roman" panose="02020603050405020304" pitchFamily="18" charset="0"/>
                        </a:rPr>
                        <a:t>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DeepFake Detection for Human Face Images and Videos: A Survey</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dirty="0">
                          <a:latin typeface="Times New Roman" panose="02020603050405020304" pitchFamily="18" charset="0"/>
                          <a:cs typeface="Times New Roman" panose="02020603050405020304" pitchFamily="18" charset="0"/>
                        </a:rPr>
                        <a:t>A. Malik et al., 2022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CNN, RNN, Transformer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Comprehensive survey of deepfake methods.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No new framework proposed.</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1079694"/>
                  </a:ext>
                </a:extLst>
              </a:tr>
              <a:tr h="1392953">
                <a:tc>
                  <a:txBody>
                    <a:bodyPr/>
                    <a:lstStyle/>
                    <a:p>
                      <a:pPr>
                        <a:buNone/>
                      </a:pPr>
                      <a:r>
                        <a:rPr lang="en-IN" sz="1600">
                          <a:latin typeface="Times New Roman" panose="02020603050405020304" pitchFamily="18" charset="0"/>
                          <a:cs typeface="Times New Roman" panose="02020603050405020304" pitchFamily="18" charset="0"/>
                        </a:rPr>
                        <a:t>3</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Generalization of Forgery Detection With Meta Deepfake Detection Model</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V.-N. Tran et al., 2023</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Meta-Learning</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Better generalization performance.</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Requires large datasets.</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8003485"/>
                  </a:ext>
                </a:extLst>
              </a:tr>
            </a:tbl>
          </a:graphicData>
        </a:graphic>
      </p:graphicFrame>
    </p:spTree>
    <p:extLst>
      <p:ext uri="{BB962C8B-B14F-4D97-AF65-F5344CB8AC3E}">
        <p14:creationId xmlns:p14="http://schemas.microsoft.com/office/powerpoint/2010/main" val="633524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321AC5B-0A1A-71DF-5191-3E2215E4555E}"/>
              </a:ext>
            </a:extLst>
          </p:cNvPr>
          <p:cNvGraphicFramePr>
            <a:graphicFrameLocks noGrp="1"/>
          </p:cNvGraphicFramePr>
          <p:nvPr>
            <p:extLst>
              <p:ext uri="{D42A27DB-BD31-4B8C-83A1-F6EECF244321}">
                <p14:modId xmlns:p14="http://schemas.microsoft.com/office/powerpoint/2010/main" val="2481339694"/>
              </p:ext>
            </p:extLst>
          </p:nvPr>
        </p:nvGraphicFramePr>
        <p:xfrm>
          <a:off x="677917" y="674743"/>
          <a:ext cx="10279122" cy="5584167"/>
        </p:xfrm>
        <a:graphic>
          <a:graphicData uri="http://schemas.openxmlformats.org/drawingml/2006/table">
            <a:tbl>
              <a:tblPr/>
              <a:tblGrid>
                <a:gridCol w="646386">
                  <a:extLst>
                    <a:ext uri="{9D8B030D-6E8A-4147-A177-3AD203B41FA5}">
                      <a16:colId xmlns:a16="http://schemas.microsoft.com/office/drawing/2014/main" val="4075316737"/>
                    </a:ext>
                  </a:extLst>
                </a:gridCol>
                <a:gridCol w="2779988">
                  <a:extLst>
                    <a:ext uri="{9D8B030D-6E8A-4147-A177-3AD203B41FA5}">
                      <a16:colId xmlns:a16="http://schemas.microsoft.com/office/drawing/2014/main" val="73405824"/>
                    </a:ext>
                  </a:extLst>
                </a:gridCol>
                <a:gridCol w="1713187">
                  <a:extLst>
                    <a:ext uri="{9D8B030D-6E8A-4147-A177-3AD203B41FA5}">
                      <a16:colId xmlns:a16="http://schemas.microsoft.com/office/drawing/2014/main" val="364960658"/>
                    </a:ext>
                  </a:extLst>
                </a:gridCol>
                <a:gridCol w="1713187">
                  <a:extLst>
                    <a:ext uri="{9D8B030D-6E8A-4147-A177-3AD203B41FA5}">
                      <a16:colId xmlns:a16="http://schemas.microsoft.com/office/drawing/2014/main" val="778061674"/>
                    </a:ext>
                  </a:extLst>
                </a:gridCol>
                <a:gridCol w="1713187">
                  <a:extLst>
                    <a:ext uri="{9D8B030D-6E8A-4147-A177-3AD203B41FA5}">
                      <a16:colId xmlns:a16="http://schemas.microsoft.com/office/drawing/2014/main" val="1930496590"/>
                    </a:ext>
                  </a:extLst>
                </a:gridCol>
                <a:gridCol w="1713187">
                  <a:extLst>
                    <a:ext uri="{9D8B030D-6E8A-4147-A177-3AD203B41FA5}">
                      <a16:colId xmlns:a16="http://schemas.microsoft.com/office/drawing/2014/main" val="3047140043"/>
                    </a:ext>
                  </a:extLst>
                </a:gridCol>
              </a:tblGrid>
              <a:tr h="429551">
                <a:tc>
                  <a:txBody>
                    <a:bodyPr/>
                    <a:lstStyle/>
                    <a:p>
                      <a:pPr>
                        <a:buNone/>
                      </a:pPr>
                      <a:r>
                        <a:rPr lang="en-IN" sz="1600">
                          <a:latin typeface="Times New Roman" panose="02020603050405020304" pitchFamily="18" charset="0"/>
                          <a:cs typeface="Times New Roman" panose="02020603050405020304" pitchFamily="18" charset="0"/>
                        </a:rPr>
                        <a:t>S.No</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Title</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Methodology Used</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Advantages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Disadvantages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5398150"/>
                  </a:ext>
                </a:extLst>
              </a:tr>
              <a:tr h="1350019">
                <a:tc>
                  <a:txBody>
                    <a:bodyPr/>
                    <a:lstStyle/>
                    <a:p>
                      <a:pPr>
                        <a:buNone/>
                      </a:pPr>
                      <a:r>
                        <a:rPr lang="en-IN" sz="1600">
                          <a:latin typeface="Times New Roman" panose="02020603050405020304" pitchFamily="18" charset="0"/>
                          <a:cs typeface="Times New Roman" panose="02020603050405020304" pitchFamily="18" charset="0"/>
                        </a:rPr>
                        <a:t>4</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A Survey on the Detection and Impacts of Deepfakes in Visual, Audio, and Textual Formats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nb-NO" sz="1600">
                          <a:latin typeface="Times New Roman" panose="02020603050405020304" pitchFamily="18" charset="0"/>
                          <a:cs typeface="Times New Roman" panose="02020603050405020304" pitchFamily="18" charset="0"/>
                        </a:rPr>
                        <a:t>R. Mubarak et al., 2023</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Multi-modal Analysis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Covers visual, audio, and text deepfakes.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Mostly theoretical survey.</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5707717"/>
                  </a:ext>
                </a:extLst>
              </a:tr>
              <a:tr h="2270486">
                <a:tc>
                  <a:txBody>
                    <a:bodyPr/>
                    <a:lstStyle/>
                    <a:p>
                      <a:pPr>
                        <a:buNone/>
                      </a:pPr>
                      <a:r>
                        <a:rPr lang="en-IN" sz="1600">
                          <a:latin typeface="Times New Roman" panose="02020603050405020304" pitchFamily="18" charset="0"/>
                          <a:cs typeface="Times New Roman" panose="02020603050405020304" pitchFamily="18" charset="0"/>
                        </a:rPr>
                        <a:t>5</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Improving Video Vision Transformer for Deepfake Video Detection Using Facial Landmark, Depthwise Separable Convolution and Self Attention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a:latin typeface="Times New Roman" panose="02020603050405020304" pitchFamily="18" charset="0"/>
                          <a:cs typeface="Times New Roman" panose="02020603050405020304" pitchFamily="18" charset="0"/>
                        </a:rPr>
                        <a:t>K. N. Ramadhani et al., 2024</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Vision Transformer + Self-Attention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High detection accuracy.</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Requires high GPU resources.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5713680"/>
                  </a:ext>
                </a:extLst>
              </a:tr>
              <a:tr h="1534111">
                <a:tc>
                  <a:txBody>
                    <a:bodyPr/>
                    <a:lstStyle/>
                    <a:p>
                      <a:pPr>
                        <a:buNone/>
                      </a:pPr>
                      <a:r>
                        <a:rPr lang="en-IN" sz="1600">
                          <a:latin typeface="Times New Roman" panose="02020603050405020304" pitchFamily="18" charset="0"/>
                          <a:cs typeface="Times New Roman" panose="02020603050405020304" pitchFamily="18" charset="0"/>
                        </a:rPr>
                        <a:t>6</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Local Region Frequency Guided Dynamic Inconsistency Network for Deepfake Video Detection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a:latin typeface="Times New Roman" panose="02020603050405020304" pitchFamily="18" charset="0"/>
                          <a:cs typeface="Times New Roman" panose="02020603050405020304" pitchFamily="18" charset="0"/>
                        </a:rPr>
                        <a:t>P. Yue et al., 2024</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Frequency Domain Analysis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Detects hidden manipulation artifacts.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High processing cost.</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967391"/>
                  </a:ext>
                </a:extLst>
              </a:tr>
            </a:tbl>
          </a:graphicData>
        </a:graphic>
      </p:graphicFrame>
    </p:spTree>
    <p:extLst>
      <p:ext uri="{BB962C8B-B14F-4D97-AF65-F5344CB8AC3E}">
        <p14:creationId xmlns:p14="http://schemas.microsoft.com/office/powerpoint/2010/main" val="192167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B67CEF4-D708-291C-2F16-D88F83A2513E}"/>
              </a:ext>
            </a:extLst>
          </p:cNvPr>
          <p:cNvGraphicFramePr>
            <a:graphicFrameLocks noGrp="1"/>
          </p:cNvGraphicFramePr>
          <p:nvPr>
            <p:extLst>
              <p:ext uri="{D42A27DB-BD31-4B8C-83A1-F6EECF244321}">
                <p14:modId xmlns:p14="http://schemas.microsoft.com/office/powerpoint/2010/main" val="719858597"/>
              </p:ext>
            </p:extLst>
          </p:nvPr>
        </p:nvGraphicFramePr>
        <p:xfrm>
          <a:off x="662152" y="690465"/>
          <a:ext cx="10609230" cy="5631507"/>
        </p:xfrm>
        <a:graphic>
          <a:graphicData uri="http://schemas.openxmlformats.org/drawingml/2006/table">
            <a:tbl>
              <a:tblPr/>
              <a:tblGrid>
                <a:gridCol w="633203">
                  <a:extLst>
                    <a:ext uri="{9D8B030D-6E8A-4147-A177-3AD203B41FA5}">
                      <a16:colId xmlns:a16="http://schemas.microsoft.com/office/drawing/2014/main" val="3758050669"/>
                    </a:ext>
                  </a:extLst>
                </a:gridCol>
                <a:gridCol w="2903207">
                  <a:extLst>
                    <a:ext uri="{9D8B030D-6E8A-4147-A177-3AD203B41FA5}">
                      <a16:colId xmlns:a16="http://schemas.microsoft.com/office/drawing/2014/main" val="511495153"/>
                    </a:ext>
                  </a:extLst>
                </a:gridCol>
                <a:gridCol w="1768205">
                  <a:extLst>
                    <a:ext uri="{9D8B030D-6E8A-4147-A177-3AD203B41FA5}">
                      <a16:colId xmlns:a16="http://schemas.microsoft.com/office/drawing/2014/main" val="1486727762"/>
                    </a:ext>
                  </a:extLst>
                </a:gridCol>
                <a:gridCol w="1768205">
                  <a:extLst>
                    <a:ext uri="{9D8B030D-6E8A-4147-A177-3AD203B41FA5}">
                      <a16:colId xmlns:a16="http://schemas.microsoft.com/office/drawing/2014/main" val="1678064644"/>
                    </a:ext>
                  </a:extLst>
                </a:gridCol>
                <a:gridCol w="1768205">
                  <a:extLst>
                    <a:ext uri="{9D8B030D-6E8A-4147-A177-3AD203B41FA5}">
                      <a16:colId xmlns:a16="http://schemas.microsoft.com/office/drawing/2014/main" val="1144901739"/>
                    </a:ext>
                  </a:extLst>
                </a:gridCol>
                <a:gridCol w="1768205">
                  <a:extLst>
                    <a:ext uri="{9D8B030D-6E8A-4147-A177-3AD203B41FA5}">
                      <a16:colId xmlns:a16="http://schemas.microsoft.com/office/drawing/2014/main" val="1200655980"/>
                    </a:ext>
                  </a:extLst>
                </a:gridCol>
              </a:tblGrid>
              <a:tr h="518691">
                <a:tc>
                  <a:txBody>
                    <a:bodyPr/>
                    <a:lstStyle/>
                    <a:p>
                      <a:pPr>
                        <a:buNone/>
                      </a:pPr>
                      <a:r>
                        <a:rPr lang="en-IN" sz="1600">
                          <a:latin typeface="Times New Roman" panose="02020603050405020304" pitchFamily="18" charset="0"/>
                          <a:cs typeface="Times New Roman" panose="02020603050405020304" pitchFamily="18" charset="0"/>
                        </a:rPr>
                        <a:t>S.No</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Title</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Methodology Used</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Advantages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Disadvantages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452035"/>
                  </a:ext>
                </a:extLst>
              </a:tr>
              <a:tr h="2074766">
                <a:tc>
                  <a:txBody>
                    <a:bodyPr/>
                    <a:lstStyle/>
                    <a:p>
                      <a:pPr>
                        <a:buNone/>
                      </a:pPr>
                      <a:r>
                        <a:rPr lang="en-IN" sz="1600" dirty="0">
                          <a:latin typeface="Times New Roman" panose="02020603050405020304" pitchFamily="18" charset="0"/>
                          <a:cs typeface="Times New Roman" panose="02020603050405020304" pitchFamily="18" charset="0"/>
                        </a:rPr>
                        <a:t>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A Unified Framework of Deep Learning-Based Facial Expression Recognition System for Diversified Applications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S. Hossain et al., 2021</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Facial Expression Recognition</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Good facial feature extraction.</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Not specifically for deepfake detection.</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7020071"/>
                  </a:ext>
                </a:extLst>
              </a:tr>
              <a:tr h="1407876">
                <a:tc>
                  <a:txBody>
                    <a:bodyPr/>
                    <a:lstStyle/>
                    <a:p>
                      <a:pPr>
                        <a:buNone/>
                      </a:pPr>
                      <a:r>
                        <a:rPr lang="en-IN" sz="1600">
                          <a:latin typeface="Times New Roman" panose="02020603050405020304" pitchFamily="18" charset="0"/>
                          <a:cs typeface="Times New Roman" panose="02020603050405020304" pitchFamily="18" charset="0"/>
                        </a:rPr>
                        <a:t>8</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err="1">
                          <a:latin typeface="Times New Roman" panose="02020603050405020304" pitchFamily="18" charset="0"/>
                          <a:cs typeface="Times New Roman" panose="02020603050405020304" pitchFamily="18" charset="0"/>
                        </a:rPr>
                        <a:t>DiffFace</a:t>
                      </a:r>
                      <a:r>
                        <a:rPr lang="en-US" sz="1600" dirty="0">
                          <a:latin typeface="Times New Roman" panose="02020603050405020304" pitchFamily="18" charset="0"/>
                          <a:cs typeface="Times New Roman" panose="02020603050405020304" pitchFamily="18" charset="0"/>
                        </a:rPr>
                        <a:t>: Diffusion-Based Face Swapping with Facial Guidance</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a:latin typeface="Times New Roman" panose="02020603050405020304" pitchFamily="18" charset="0"/>
                          <a:cs typeface="Times New Roman" panose="02020603050405020304" pitchFamily="18" charset="0"/>
                        </a:rPr>
                        <a:t>K. Kim et al., 2022</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Diffusion-Based Face Swapping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Generates realistic face swaps.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Increases deepfake threats.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7941603"/>
                  </a:ext>
                </a:extLst>
              </a:tr>
              <a:tr h="1630174">
                <a:tc>
                  <a:txBody>
                    <a:bodyPr/>
                    <a:lstStyle/>
                    <a:p>
                      <a:pPr>
                        <a:buNone/>
                      </a:pPr>
                      <a:r>
                        <a:rPr lang="en-IN" sz="1600">
                          <a:latin typeface="Times New Roman" panose="02020603050405020304" pitchFamily="18" charset="0"/>
                          <a:cs typeface="Times New Roman" panose="02020603050405020304" pitchFamily="18" charset="0"/>
                        </a:rPr>
                        <a:t>9</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DiffSwap: High-Fidelity and Controllable Face Swapping via 3D-Aware Masked Diffusion</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a:latin typeface="Times New Roman" panose="02020603050405020304" pitchFamily="18" charset="0"/>
                          <a:cs typeface="Times New Roman" panose="02020603050405020304" pitchFamily="18" charset="0"/>
                        </a:rPr>
                        <a:t>S. Zhao et al., 2023</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3D-Aware Diffusion Model</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High realism and controllability.</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Expensive training process.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245291"/>
                  </a:ext>
                </a:extLst>
              </a:tr>
            </a:tbl>
          </a:graphicData>
        </a:graphic>
      </p:graphicFrame>
    </p:spTree>
    <p:extLst>
      <p:ext uri="{BB962C8B-B14F-4D97-AF65-F5344CB8AC3E}">
        <p14:creationId xmlns:p14="http://schemas.microsoft.com/office/powerpoint/2010/main" val="144940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A59BBF8-5C9C-8664-4303-5D1F031F668F}"/>
              </a:ext>
            </a:extLst>
          </p:cNvPr>
          <p:cNvGraphicFramePr>
            <a:graphicFrameLocks noGrp="1"/>
          </p:cNvGraphicFramePr>
          <p:nvPr>
            <p:extLst>
              <p:ext uri="{D42A27DB-BD31-4B8C-83A1-F6EECF244321}">
                <p14:modId xmlns:p14="http://schemas.microsoft.com/office/powerpoint/2010/main" val="328100553"/>
              </p:ext>
            </p:extLst>
          </p:nvPr>
        </p:nvGraphicFramePr>
        <p:xfrm>
          <a:off x="690464" y="690465"/>
          <a:ext cx="10618236" cy="5452012"/>
        </p:xfrm>
        <a:graphic>
          <a:graphicData uri="http://schemas.openxmlformats.org/drawingml/2006/table">
            <a:tbl>
              <a:tblPr/>
              <a:tblGrid>
                <a:gridCol w="633839">
                  <a:extLst>
                    <a:ext uri="{9D8B030D-6E8A-4147-A177-3AD203B41FA5}">
                      <a16:colId xmlns:a16="http://schemas.microsoft.com/office/drawing/2014/main" val="3580634677"/>
                    </a:ext>
                  </a:extLst>
                </a:gridCol>
                <a:gridCol w="2905573">
                  <a:extLst>
                    <a:ext uri="{9D8B030D-6E8A-4147-A177-3AD203B41FA5}">
                      <a16:colId xmlns:a16="http://schemas.microsoft.com/office/drawing/2014/main" val="1412370728"/>
                    </a:ext>
                  </a:extLst>
                </a:gridCol>
                <a:gridCol w="1769706">
                  <a:extLst>
                    <a:ext uri="{9D8B030D-6E8A-4147-A177-3AD203B41FA5}">
                      <a16:colId xmlns:a16="http://schemas.microsoft.com/office/drawing/2014/main" val="315095637"/>
                    </a:ext>
                  </a:extLst>
                </a:gridCol>
                <a:gridCol w="1769706">
                  <a:extLst>
                    <a:ext uri="{9D8B030D-6E8A-4147-A177-3AD203B41FA5}">
                      <a16:colId xmlns:a16="http://schemas.microsoft.com/office/drawing/2014/main" val="2145345529"/>
                    </a:ext>
                  </a:extLst>
                </a:gridCol>
                <a:gridCol w="1769706">
                  <a:extLst>
                    <a:ext uri="{9D8B030D-6E8A-4147-A177-3AD203B41FA5}">
                      <a16:colId xmlns:a16="http://schemas.microsoft.com/office/drawing/2014/main" val="4120026564"/>
                    </a:ext>
                  </a:extLst>
                </a:gridCol>
                <a:gridCol w="1769706">
                  <a:extLst>
                    <a:ext uri="{9D8B030D-6E8A-4147-A177-3AD203B41FA5}">
                      <a16:colId xmlns:a16="http://schemas.microsoft.com/office/drawing/2014/main" val="2730795495"/>
                    </a:ext>
                  </a:extLst>
                </a:gridCol>
              </a:tblGrid>
              <a:tr h="569613">
                <a:tc>
                  <a:txBody>
                    <a:bodyPr/>
                    <a:lstStyle/>
                    <a:p>
                      <a:pPr>
                        <a:buNone/>
                      </a:pPr>
                      <a:r>
                        <a:rPr lang="en-IN" sz="1600">
                          <a:latin typeface="Times New Roman" panose="02020603050405020304" pitchFamily="18" charset="0"/>
                          <a:cs typeface="Times New Roman" panose="02020603050405020304" pitchFamily="18" charset="0"/>
                        </a:rPr>
                        <a:t>S.No</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Title</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Methodology Used</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Advantages</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Disadvantages</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9639290"/>
                  </a:ext>
                </a:extLst>
              </a:tr>
              <a:tr h="1790213">
                <a:tc>
                  <a:txBody>
                    <a:bodyPr/>
                    <a:lstStyle/>
                    <a:p>
                      <a:pPr>
                        <a:buNone/>
                      </a:pPr>
                      <a:r>
                        <a:rPr lang="en-IN" sz="1600" dirty="0">
                          <a:latin typeface="Times New Roman" panose="02020603050405020304" pitchFamily="18" charset="0"/>
                          <a:cs typeface="Times New Roman" panose="02020603050405020304" pitchFamily="18" charset="0"/>
                        </a:rPr>
                        <a:t>10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Dynamic-Aware Federated Learning for Face Forgery Video Detection</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dirty="0">
                          <a:latin typeface="Times New Roman" panose="02020603050405020304" pitchFamily="18" charset="0"/>
                          <a:cs typeface="Times New Roman" panose="02020603050405020304" pitchFamily="18" charset="0"/>
                        </a:rPr>
                        <a:t>Z. Hu et al., 2022</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Federated Learning</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Preserves privacy and scalability.</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High communication overhead.</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6518118"/>
                  </a:ext>
                </a:extLst>
              </a:tr>
              <a:tr h="1546093">
                <a:tc>
                  <a:txBody>
                    <a:bodyPr/>
                    <a:lstStyle/>
                    <a:p>
                      <a:pPr>
                        <a:buNone/>
                      </a:pPr>
                      <a:r>
                        <a:rPr lang="en-IN" sz="1600">
                          <a:latin typeface="Times New Roman" panose="02020603050405020304" pitchFamily="18" charset="0"/>
                          <a:cs typeface="Times New Roman" panose="02020603050405020304" pitchFamily="18" charset="0"/>
                        </a:rPr>
                        <a:t>11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UniFormerV2: Unlocking the Potential of Image ViTs for Video Understanding</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it-IT" sz="1600" dirty="0">
                          <a:latin typeface="Times New Roman" panose="02020603050405020304" pitchFamily="18" charset="0"/>
                          <a:cs typeface="Times New Roman" panose="02020603050405020304" pitchFamily="18" charset="0"/>
                        </a:rPr>
                        <a:t>K. Li et al., 2023</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Vision Transformer</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Strong temporal feature learning.</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Requires massive datasets.</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2871475"/>
                  </a:ext>
                </a:extLst>
              </a:tr>
              <a:tr h="1546093">
                <a:tc>
                  <a:txBody>
                    <a:bodyPr/>
                    <a:lstStyle/>
                    <a:p>
                      <a:pPr>
                        <a:buNone/>
                      </a:pPr>
                      <a:r>
                        <a:rPr lang="en-IN" sz="1600">
                          <a:latin typeface="Times New Roman" panose="02020603050405020304" pitchFamily="18" charset="0"/>
                          <a:cs typeface="Times New Roman" panose="02020603050405020304" pitchFamily="18" charset="0"/>
                        </a:rPr>
                        <a:t>12</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In Ictu Oculi: Exposing AI Created Fake Videos by Detecting Eye Blinking</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it-IT" sz="1600">
                          <a:latin typeface="Times New Roman" panose="02020603050405020304" pitchFamily="18" charset="0"/>
                          <a:cs typeface="Times New Roman" panose="02020603050405020304" pitchFamily="18" charset="0"/>
                        </a:rPr>
                        <a:t>Y. Li et al., 2018</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Eye Blinking Detection</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Lightweight detection method.</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Ineffective against modern deepfakes.</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5184009"/>
                  </a:ext>
                </a:extLst>
              </a:tr>
            </a:tbl>
          </a:graphicData>
        </a:graphic>
      </p:graphicFrame>
    </p:spTree>
    <p:extLst>
      <p:ext uri="{BB962C8B-B14F-4D97-AF65-F5344CB8AC3E}">
        <p14:creationId xmlns:p14="http://schemas.microsoft.com/office/powerpoint/2010/main" val="968143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EB57081-CEF1-207F-099A-A666BBBB8135}"/>
              </a:ext>
            </a:extLst>
          </p:cNvPr>
          <p:cNvGraphicFramePr>
            <a:graphicFrameLocks noGrp="1"/>
          </p:cNvGraphicFramePr>
          <p:nvPr>
            <p:extLst>
              <p:ext uri="{D42A27DB-BD31-4B8C-83A1-F6EECF244321}">
                <p14:modId xmlns:p14="http://schemas.microsoft.com/office/powerpoint/2010/main" val="3310092806"/>
              </p:ext>
            </p:extLst>
          </p:nvPr>
        </p:nvGraphicFramePr>
        <p:xfrm>
          <a:off x="740979" y="877078"/>
          <a:ext cx="10736320" cy="5122762"/>
        </p:xfrm>
        <a:graphic>
          <a:graphicData uri="http://schemas.openxmlformats.org/drawingml/2006/table">
            <a:tbl>
              <a:tblPr/>
              <a:tblGrid>
                <a:gridCol w="714436">
                  <a:extLst>
                    <a:ext uri="{9D8B030D-6E8A-4147-A177-3AD203B41FA5}">
                      <a16:colId xmlns:a16="http://schemas.microsoft.com/office/drawing/2014/main" val="2668512593"/>
                    </a:ext>
                  </a:extLst>
                </a:gridCol>
                <a:gridCol w="2864336">
                  <a:extLst>
                    <a:ext uri="{9D8B030D-6E8A-4147-A177-3AD203B41FA5}">
                      <a16:colId xmlns:a16="http://schemas.microsoft.com/office/drawing/2014/main" val="3681816084"/>
                    </a:ext>
                  </a:extLst>
                </a:gridCol>
                <a:gridCol w="1789387">
                  <a:extLst>
                    <a:ext uri="{9D8B030D-6E8A-4147-A177-3AD203B41FA5}">
                      <a16:colId xmlns:a16="http://schemas.microsoft.com/office/drawing/2014/main" val="1460187943"/>
                    </a:ext>
                  </a:extLst>
                </a:gridCol>
                <a:gridCol w="1789387">
                  <a:extLst>
                    <a:ext uri="{9D8B030D-6E8A-4147-A177-3AD203B41FA5}">
                      <a16:colId xmlns:a16="http://schemas.microsoft.com/office/drawing/2014/main" val="1318918283"/>
                    </a:ext>
                  </a:extLst>
                </a:gridCol>
                <a:gridCol w="1789387">
                  <a:extLst>
                    <a:ext uri="{9D8B030D-6E8A-4147-A177-3AD203B41FA5}">
                      <a16:colId xmlns:a16="http://schemas.microsoft.com/office/drawing/2014/main" val="1729871676"/>
                    </a:ext>
                  </a:extLst>
                </a:gridCol>
                <a:gridCol w="1789387">
                  <a:extLst>
                    <a:ext uri="{9D8B030D-6E8A-4147-A177-3AD203B41FA5}">
                      <a16:colId xmlns:a16="http://schemas.microsoft.com/office/drawing/2014/main" val="535827489"/>
                    </a:ext>
                  </a:extLst>
                </a:gridCol>
              </a:tblGrid>
              <a:tr h="651988">
                <a:tc>
                  <a:txBody>
                    <a:bodyPr/>
                    <a:lstStyle/>
                    <a:p>
                      <a:pPr>
                        <a:buNone/>
                      </a:pPr>
                      <a:r>
                        <a:rPr lang="en-IN" sz="1600">
                          <a:latin typeface="Times New Roman" panose="02020603050405020304" pitchFamily="18" charset="0"/>
                          <a:cs typeface="Times New Roman" panose="02020603050405020304" pitchFamily="18" charset="0"/>
                        </a:rPr>
                        <a:t>S.No</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Title</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Methodology Used</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Advantages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Disadvantages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8073570"/>
                  </a:ext>
                </a:extLst>
              </a:tr>
              <a:tr h="1490258">
                <a:tc>
                  <a:txBody>
                    <a:bodyPr/>
                    <a:lstStyle/>
                    <a:p>
                      <a:pPr>
                        <a:buNone/>
                      </a:pPr>
                      <a:r>
                        <a:rPr lang="en-IN" sz="1600" dirty="0">
                          <a:latin typeface="Times New Roman" panose="02020603050405020304" pitchFamily="18" charset="0"/>
                          <a:cs typeface="Times New Roman" panose="02020603050405020304" pitchFamily="18" charset="0"/>
                        </a:rPr>
                        <a:t>13</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err="1">
                          <a:latin typeface="Times New Roman" panose="02020603050405020304" pitchFamily="18" charset="0"/>
                          <a:cs typeface="Times New Roman" panose="02020603050405020304" pitchFamily="18" charset="0"/>
                        </a:rPr>
                        <a:t>FaceForensics</a:t>
                      </a:r>
                      <a:r>
                        <a:rPr lang="en-US" sz="1600" dirty="0">
                          <a:latin typeface="Times New Roman" panose="02020603050405020304" pitchFamily="18" charset="0"/>
                          <a:cs typeface="Times New Roman" panose="02020603050405020304" pitchFamily="18" charset="0"/>
                        </a:rPr>
                        <a:t>++: Learning to Detect Manipulated Facial Images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nb-NO" sz="1600" dirty="0">
                          <a:latin typeface="Times New Roman" panose="02020603050405020304" pitchFamily="18" charset="0"/>
                          <a:cs typeface="Times New Roman" panose="02020603050405020304" pitchFamily="18" charset="0"/>
                        </a:rPr>
                        <a:t>A. Rossler et al., 2019</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CNN-Based Detection</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Benchmark dataset for research.</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Limited real-world diversity.</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2599226"/>
                  </a:ext>
                </a:extLst>
              </a:tr>
              <a:tr h="1210835">
                <a:tc>
                  <a:txBody>
                    <a:bodyPr/>
                    <a:lstStyle/>
                    <a:p>
                      <a:pPr>
                        <a:buNone/>
                      </a:pPr>
                      <a:r>
                        <a:rPr lang="en-IN" sz="1600" dirty="0">
                          <a:latin typeface="Times New Roman" panose="02020603050405020304" pitchFamily="18" charset="0"/>
                          <a:cs typeface="Times New Roman" panose="02020603050405020304" pitchFamily="18" charset="0"/>
                        </a:rPr>
                        <a:t>14</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The </a:t>
                      </a:r>
                      <a:r>
                        <a:rPr lang="en-US" sz="1600" dirty="0" err="1">
                          <a:latin typeface="Times New Roman" panose="02020603050405020304" pitchFamily="18" charset="0"/>
                          <a:cs typeface="Times New Roman" panose="02020603050405020304" pitchFamily="18" charset="0"/>
                        </a:rPr>
                        <a:t>DeepFake</a:t>
                      </a:r>
                      <a:r>
                        <a:rPr lang="en-US" sz="1600" dirty="0">
                          <a:latin typeface="Times New Roman" panose="02020603050405020304" pitchFamily="18" charset="0"/>
                          <a:cs typeface="Times New Roman" panose="02020603050405020304" pitchFamily="18" charset="0"/>
                        </a:rPr>
                        <a:t> Detection Challenge (DFDC) Dataset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da-DK" sz="1600" dirty="0">
                          <a:latin typeface="Times New Roman" panose="02020603050405020304" pitchFamily="18" charset="0"/>
                          <a:cs typeface="Times New Roman" panose="02020603050405020304" pitchFamily="18" charset="0"/>
                        </a:rPr>
                        <a:t>B. Dolhansky et al., 2020</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Large-Scale Deepfake Dataset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Large and diverse dataset.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Requires huge storage and computation.</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729586"/>
                  </a:ext>
                </a:extLst>
              </a:tr>
              <a:tr h="1769681">
                <a:tc>
                  <a:txBody>
                    <a:bodyPr/>
                    <a:lstStyle/>
                    <a:p>
                      <a:pPr>
                        <a:buNone/>
                      </a:pPr>
                      <a:r>
                        <a:rPr lang="en-IN" sz="1600">
                          <a:latin typeface="Times New Roman" panose="02020603050405020304" pitchFamily="18" charset="0"/>
                          <a:cs typeface="Times New Roman" panose="02020603050405020304" pitchFamily="18" charset="0"/>
                        </a:rPr>
                        <a:t>15</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Exposing DeepFake Videos by Detecting Face Warping Artifacts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it-IT" sz="1600">
                          <a:latin typeface="Times New Roman" panose="02020603050405020304" pitchFamily="18" charset="0"/>
                          <a:cs typeface="Times New Roman" panose="02020603050405020304" pitchFamily="18" charset="0"/>
                        </a:rPr>
                        <a:t>Y. Li and S. Lyu, 2019</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Face Warping Artifact Detection</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Effective for compressed videos.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Less effective against advanced deepfakes.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846248"/>
                  </a:ext>
                </a:extLst>
              </a:tr>
            </a:tbl>
          </a:graphicData>
        </a:graphic>
      </p:graphicFrame>
    </p:spTree>
    <p:extLst>
      <p:ext uri="{BB962C8B-B14F-4D97-AF65-F5344CB8AC3E}">
        <p14:creationId xmlns:p14="http://schemas.microsoft.com/office/powerpoint/2010/main" val="2927992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D68916-F3EF-0578-C94D-E2947A4BA9B2}"/>
              </a:ext>
            </a:extLst>
          </p:cNvPr>
          <p:cNvSpPr txBox="1"/>
          <p:nvPr/>
        </p:nvSpPr>
        <p:spPr>
          <a:xfrm>
            <a:off x="534714" y="567559"/>
            <a:ext cx="2019299" cy="430887"/>
          </a:xfrm>
          <a:prstGeom prst="rect">
            <a:avLst/>
          </a:prstGeom>
          <a:noFill/>
        </p:spPr>
        <p:txBody>
          <a:bodyPr wrap="square">
            <a:spAutoFit/>
          </a:bodyPr>
          <a:lstStyle/>
          <a:p>
            <a:r>
              <a:rPr lang="en-US" sz="2200" b="1" dirty="0">
                <a:latin typeface="Times New Roman" pitchFamily="18" charset="0"/>
                <a:cs typeface="Times New Roman" panose="02020603050405020304" pitchFamily="18" charset="0"/>
              </a:rPr>
              <a:t>OBJECTIVE</a:t>
            </a:r>
            <a:endParaRPr lang="en-IN" sz="2200" dirty="0"/>
          </a:p>
        </p:txBody>
      </p:sp>
      <p:sp>
        <p:nvSpPr>
          <p:cNvPr id="5" name="TextBox 4">
            <a:extLst>
              <a:ext uri="{FF2B5EF4-FFF2-40B4-BE49-F238E27FC236}">
                <a16:creationId xmlns:a16="http://schemas.microsoft.com/office/drawing/2014/main" id="{2450F110-8A06-2E54-89D9-B8215F0FF59B}"/>
              </a:ext>
            </a:extLst>
          </p:cNvPr>
          <p:cNvSpPr txBox="1"/>
          <p:nvPr/>
        </p:nvSpPr>
        <p:spPr>
          <a:xfrm>
            <a:off x="756744" y="956368"/>
            <a:ext cx="10263351" cy="544405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Deep Learning Framework</a:t>
            </a:r>
            <a:b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aims to develop an efficient deepfake detection system by combining Efficient Net, Vision Transformer (VIT), and Bi-LSTM to leverage their strengths in feature extraction, attention, and sequence learning.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Spatial Feature Extraction &amp; Context Learning</a:t>
            </a:r>
            <a:b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Net extracts rich visual features from video frames, while VIT captures global contextual relationships and subtle manipulation patterns using attention mechanisms.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Temporal Analysis for Deepfake Detection</a:t>
            </a:r>
            <a:b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Bi-LSTM analyzes sequential frame data to identify temporal inconsistencies and patterns, improving the system’s ability to detect deepfake manipulations across video sequences.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Detection System with Outputs</a:t>
            </a:r>
            <a:b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video uploads and YouTube links, classifies videos as Real or Fake with confidence scores, and generates a concise report summarizing the analysis results. </a:t>
            </a:r>
          </a:p>
        </p:txBody>
      </p:sp>
    </p:spTree>
    <p:extLst>
      <p:ext uri="{BB962C8B-B14F-4D97-AF65-F5344CB8AC3E}">
        <p14:creationId xmlns:p14="http://schemas.microsoft.com/office/powerpoint/2010/main" val="686186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DDE159-6B9A-5762-4372-4CF0C2FE1765}"/>
              </a:ext>
            </a:extLst>
          </p:cNvPr>
          <p:cNvSpPr txBox="1"/>
          <p:nvPr/>
        </p:nvSpPr>
        <p:spPr>
          <a:xfrm>
            <a:off x="918341" y="469603"/>
            <a:ext cx="6093372" cy="400110"/>
          </a:xfrm>
          <a:prstGeom prst="rect">
            <a:avLst/>
          </a:prstGeom>
          <a:noFill/>
        </p:spPr>
        <p:txBody>
          <a:bodyPr wrap="square">
            <a:spAutoFit/>
          </a:bodyPr>
          <a:lstStyle/>
          <a:p>
            <a:r>
              <a:rPr lang="en-US" sz="2000" b="1" dirty="0">
                <a:latin typeface="Times New Roman" pitchFamily="18" charset="0"/>
                <a:cs typeface="Times New Roman" pitchFamily="18" charset="0"/>
              </a:rPr>
              <a:t>PROBLEM  STATEMENT</a:t>
            </a:r>
            <a:endParaRPr lang="en-IN" sz="2000" dirty="0"/>
          </a:p>
        </p:txBody>
      </p:sp>
      <p:sp>
        <p:nvSpPr>
          <p:cNvPr id="5" name="TextBox 4">
            <a:extLst>
              <a:ext uri="{FF2B5EF4-FFF2-40B4-BE49-F238E27FC236}">
                <a16:creationId xmlns:a16="http://schemas.microsoft.com/office/drawing/2014/main" id="{D292A3B7-F7A8-3C44-4094-A5B8DDA06C3B}"/>
              </a:ext>
            </a:extLst>
          </p:cNvPr>
          <p:cNvSpPr txBox="1"/>
          <p:nvPr/>
        </p:nvSpPr>
        <p:spPr>
          <a:xfrm>
            <a:off x="1066800" y="1084326"/>
            <a:ext cx="10058400" cy="420519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With the rapid advancement of deepfake technology, creating highly realistic yet manipulated videos has become increasingly accessible. </a:t>
            </a:r>
          </a:p>
          <a:p>
            <a:pPr marL="28575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These fabricated videos pose serious risks, including the spread of misinformation, erosion of public trust, and potential security breaches. Detecting deepfakes is particularly challenging because traditional detection methods often fail to identify subtle visual and temporal inconsistencies present in these videos. </a:t>
            </a:r>
          </a:p>
          <a:p>
            <a:pPr marL="28575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Moreover, the growing volume of online video content, including social media uploads and streaming platforms, makes manual verification impractical. </a:t>
            </a:r>
          </a:p>
          <a:p>
            <a:pPr marL="28575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There is a pressing need for an automated, accurate, and reliable system capable of distinguishing real videos from manipulated ones while handling diverse input formats in real-time.</a:t>
            </a:r>
            <a:endParaRPr lang="en-IN" dirty="0"/>
          </a:p>
        </p:txBody>
      </p:sp>
    </p:spTree>
    <p:extLst>
      <p:ext uri="{BB962C8B-B14F-4D97-AF65-F5344CB8AC3E}">
        <p14:creationId xmlns:p14="http://schemas.microsoft.com/office/powerpoint/2010/main" val="1026391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52FFE3-F55B-E96F-CB43-074C6AE9773E}"/>
              </a:ext>
            </a:extLst>
          </p:cNvPr>
          <p:cNvSpPr txBox="1"/>
          <p:nvPr/>
        </p:nvSpPr>
        <p:spPr>
          <a:xfrm>
            <a:off x="445375" y="375010"/>
            <a:ext cx="6093372"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EXISTING SYSTEM</a:t>
            </a:r>
            <a:endParaRPr lang="en-IN" sz="2200" dirty="0"/>
          </a:p>
        </p:txBody>
      </p:sp>
      <p:sp>
        <p:nvSpPr>
          <p:cNvPr id="5" name="TextBox 4">
            <a:extLst>
              <a:ext uri="{FF2B5EF4-FFF2-40B4-BE49-F238E27FC236}">
                <a16:creationId xmlns:a16="http://schemas.microsoft.com/office/drawing/2014/main" id="{4FB451B6-F698-4187-261C-D7D691160043}"/>
              </a:ext>
            </a:extLst>
          </p:cNvPr>
          <p:cNvSpPr txBox="1"/>
          <p:nvPr/>
        </p:nvSpPr>
        <p:spPr>
          <a:xfrm>
            <a:off x="677918" y="623437"/>
            <a:ext cx="10452538" cy="5859553"/>
          </a:xfrm>
          <a:prstGeom prst="rect">
            <a:avLst/>
          </a:prstGeom>
          <a:noFill/>
        </p:spPr>
        <p:txBody>
          <a:bodyPr wrap="square">
            <a:spAutoFit/>
          </a:bodyPr>
          <a:lstStyle/>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The existing systems for deepfake detection primarily rely on traditional machine learning techniques or simple deep learning models that focus only on spatial features extracted from video frames. </a:t>
            </a:r>
          </a:p>
          <a:p>
            <a:pPr algn="just">
              <a:lnSpc>
                <a:spcPct val="150000"/>
              </a:lnSpc>
              <a:spcAft>
                <a:spcPts val="0"/>
              </a:spcAft>
            </a:pPr>
            <a:endParaRPr lang="en-GB" sz="1800" dirty="0">
              <a:latin typeface="Times New Roman" pitchFamily="18" charset="0"/>
              <a:cs typeface="Times New Roman" pitchFamily="18" charset="0"/>
            </a:endParaRPr>
          </a:p>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Many of these methods </a:t>
            </a:r>
            <a:r>
              <a:rPr lang="en-GB" sz="1800" dirty="0" err="1">
                <a:latin typeface="Times New Roman" pitchFamily="18" charset="0"/>
                <a:cs typeface="Times New Roman" pitchFamily="18" charset="0"/>
              </a:rPr>
              <a:t>analyzes</a:t>
            </a:r>
            <a:r>
              <a:rPr lang="en-GB" dirty="0">
                <a:latin typeface="Times New Roman" pitchFamily="18" charset="0"/>
                <a:cs typeface="Times New Roman" pitchFamily="18" charset="0"/>
              </a:rPr>
              <a:t> </a:t>
            </a:r>
            <a:r>
              <a:rPr lang="en-GB" sz="1800" dirty="0">
                <a:latin typeface="Times New Roman" pitchFamily="18" charset="0"/>
                <a:cs typeface="Times New Roman" pitchFamily="18" charset="0"/>
              </a:rPr>
              <a:t>still images or individual frames without considering the temporal relationships between consecutive frames, which limits their ability to detect subtle inconsistencies present in manipulated videos. </a:t>
            </a:r>
          </a:p>
          <a:p>
            <a:pPr algn="just">
              <a:lnSpc>
                <a:spcPct val="150000"/>
              </a:lnSpc>
              <a:spcAft>
                <a:spcPts val="0"/>
              </a:spcAft>
            </a:pPr>
            <a:endParaRPr lang="en-GB" sz="1800" dirty="0">
              <a:latin typeface="Times New Roman" pitchFamily="18" charset="0"/>
              <a:cs typeface="Times New Roman" pitchFamily="18" charset="0"/>
            </a:endParaRPr>
          </a:p>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Additionally, some existing approaches depend on handcrafted features such as facial landmarks, head pose estimation, or texture-based analysis, which often fail when deepfakes are generated using advanced generative models that minimize such artifacts. </a:t>
            </a:r>
          </a:p>
          <a:p>
            <a:pPr algn="just">
              <a:lnSpc>
                <a:spcPct val="150000"/>
              </a:lnSpc>
              <a:spcAft>
                <a:spcPts val="0"/>
              </a:spcAft>
            </a:pPr>
            <a:endParaRPr lang="en-GB" sz="1800" dirty="0">
              <a:latin typeface="Times New Roman" pitchFamily="18" charset="0"/>
              <a:cs typeface="Times New Roman" pitchFamily="18" charset="0"/>
            </a:endParaRPr>
          </a:p>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While convolutional neural networks (CNNs) have improved detection accuracy by learning richer visual features, their performance significantly drops when applied to videos with high realism or when tested across different datasets.</a:t>
            </a:r>
            <a:endParaRPr lang="en-IN" sz="1800" dirty="0">
              <a:solidFill>
                <a:srgbClr val="000000"/>
              </a:solidFill>
              <a:latin typeface="Times New Roman" pitchFamily="18" charset="0"/>
              <a:ea typeface="Calibri"/>
              <a:cs typeface="Times New Roman" pitchFamily="18" charset="0"/>
            </a:endParaRPr>
          </a:p>
        </p:txBody>
      </p:sp>
    </p:spTree>
    <p:extLst>
      <p:ext uri="{BB962C8B-B14F-4D97-AF65-F5344CB8AC3E}">
        <p14:creationId xmlns:p14="http://schemas.microsoft.com/office/powerpoint/2010/main" val="335886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C0A524-E30E-EE33-9D50-0D789369A272}"/>
              </a:ext>
            </a:extLst>
          </p:cNvPr>
          <p:cNvSpPr txBox="1"/>
          <p:nvPr/>
        </p:nvSpPr>
        <p:spPr>
          <a:xfrm>
            <a:off x="756744" y="1180180"/>
            <a:ext cx="6093372"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DISADVANTAGES</a:t>
            </a:r>
            <a:br>
              <a:rPr lang="en-US" dirty="0"/>
            </a:br>
            <a:endParaRPr lang="en-IN" dirty="0"/>
          </a:p>
        </p:txBody>
      </p:sp>
      <p:sp>
        <p:nvSpPr>
          <p:cNvPr id="7" name="TextBox 6">
            <a:extLst>
              <a:ext uri="{FF2B5EF4-FFF2-40B4-BE49-F238E27FC236}">
                <a16:creationId xmlns:a16="http://schemas.microsoft.com/office/drawing/2014/main" id="{601C6D88-C57F-EC9E-2C72-D64D6818902D}"/>
              </a:ext>
            </a:extLst>
          </p:cNvPr>
          <p:cNvSpPr txBox="1"/>
          <p:nvPr/>
        </p:nvSpPr>
        <p:spPr>
          <a:xfrm>
            <a:off x="914399" y="1956266"/>
            <a:ext cx="10137228" cy="2535566"/>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Poor generalization across different datasets and platforms, leading to reduced accuracy in real-world scenarios.</a:t>
            </a:r>
          </a:p>
          <a:p>
            <a:pPr lvl="0" algn="just">
              <a:lnSpc>
                <a:spcPct val="150000"/>
              </a:lnSpc>
            </a:pPr>
            <a:endParaRPr lang="en-GB" sz="1800" dirty="0">
              <a:latin typeface="Times New Roman" pitchFamily="18" charset="0"/>
              <a:cs typeface="Times New Roman" pitchFamily="18" charset="0"/>
            </a:endParaRPr>
          </a:p>
          <a:p>
            <a:pPr marL="285750" lvl="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Performance drops significantly when faced with high-quality, realistic deepfakes.</a:t>
            </a:r>
          </a:p>
          <a:p>
            <a:pPr lvl="0" algn="just">
              <a:lnSpc>
                <a:spcPct val="150000"/>
              </a:lnSpc>
            </a:pPr>
            <a:endParaRPr lang="en-GB" sz="1800" dirty="0">
              <a:latin typeface="Times New Roman" pitchFamily="18" charset="0"/>
              <a:cs typeface="Times New Roman" pitchFamily="18" charset="0"/>
            </a:endParaRPr>
          </a:p>
          <a:p>
            <a:pPr marL="285750" lvl="0" indent="-285750" algn="just">
              <a:lnSpc>
                <a:spcPct val="150000"/>
              </a:lnSpc>
              <a:buFont typeface="Arial" panose="020B0604020202020204" pitchFamily="34" charset="0"/>
              <a:buChar char="•"/>
            </a:pPr>
            <a:r>
              <a:rPr lang="en-GB" sz="1800" dirty="0">
                <a:latin typeface="Times New Roman" pitchFamily="18" charset="0"/>
                <a:cs typeface="Times New Roman" pitchFamily="18" charset="0"/>
              </a:rPr>
              <a:t>Low robustness, as they are easily deceived by improved generative models.</a:t>
            </a:r>
          </a:p>
        </p:txBody>
      </p:sp>
      <p:sp>
        <p:nvSpPr>
          <p:cNvPr id="9" name="TextBox 8">
            <a:extLst>
              <a:ext uri="{FF2B5EF4-FFF2-40B4-BE49-F238E27FC236}">
                <a16:creationId xmlns:a16="http://schemas.microsoft.com/office/drawing/2014/main" id="{283AFC32-FDAB-106A-7522-61BA0A57862E}"/>
              </a:ext>
            </a:extLst>
          </p:cNvPr>
          <p:cNvSpPr txBox="1"/>
          <p:nvPr/>
        </p:nvSpPr>
        <p:spPr>
          <a:xfrm>
            <a:off x="413844" y="414588"/>
            <a:ext cx="6093372" cy="430887"/>
          </a:xfrm>
          <a:prstGeom prst="rect">
            <a:avLst/>
          </a:prstGeom>
          <a:noFill/>
        </p:spPr>
        <p:txBody>
          <a:bodyPr wrap="square">
            <a:spAutoFit/>
          </a:bodyPr>
          <a:lstStyle/>
          <a:p>
            <a:r>
              <a:rPr lang="en-US" sz="2200" b="1" dirty="0">
                <a:effectLst/>
                <a:latin typeface="Times New Roman" pitchFamily="18" charset="0"/>
                <a:cs typeface="Times New Roman" pitchFamily="18" charset="0"/>
              </a:rPr>
              <a:t>EXISTING SYSTEM</a:t>
            </a:r>
            <a:endParaRPr lang="en-IN" sz="2200" dirty="0"/>
          </a:p>
        </p:txBody>
      </p:sp>
    </p:spTree>
    <p:extLst>
      <p:ext uri="{BB962C8B-B14F-4D97-AF65-F5344CB8AC3E}">
        <p14:creationId xmlns:p14="http://schemas.microsoft.com/office/powerpoint/2010/main" val="3129750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AF623-03DF-9B82-F572-C43885B240E3}"/>
              </a:ext>
            </a:extLst>
          </p:cNvPr>
          <p:cNvSpPr txBox="1"/>
          <p:nvPr/>
        </p:nvSpPr>
        <p:spPr>
          <a:xfrm>
            <a:off x="634562" y="422306"/>
            <a:ext cx="6093372"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PROPOSED SYSTEM</a:t>
            </a:r>
            <a:endParaRPr lang="en-IN" sz="2200" dirty="0"/>
          </a:p>
        </p:txBody>
      </p:sp>
      <p:sp>
        <p:nvSpPr>
          <p:cNvPr id="5" name="TextBox 4">
            <a:extLst>
              <a:ext uri="{FF2B5EF4-FFF2-40B4-BE49-F238E27FC236}">
                <a16:creationId xmlns:a16="http://schemas.microsoft.com/office/drawing/2014/main" id="{CA5C7EF0-E44A-E740-A972-D8928958A34C}"/>
              </a:ext>
            </a:extLst>
          </p:cNvPr>
          <p:cNvSpPr txBox="1"/>
          <p:nvPr/>
        </p:nvSpPr>
        <p:spPr>
          <a:xfrm>
            <a:off x="909144" y="1040718"/>
            <a:ext cx="10426263" cy="4524315"/>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introduces a deepfake detection framework that combines spatial and temporal feature learning to improve detection performance.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Net is used to extract rich and discriminative visual features from individual video frames.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Vision Transformer (V</a:t>
            </a:r>
            <a:r>
              <a:rPr lang="en-US" altLang="en-US" dirty="0">
                <a:latin typeface="Times New Roman" panose="02020603050405020304" pitchFamily="18" charset="0"/>
                <a:cs typeface="Times New Roman" panose="02020603050405020304" pitchFamily="18" charset="0"/>
              </a:rPr>
              <a:t>I</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 captures global contextual and attention-based features, helping detect subtle manipulation patterns.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Bi-LSTM analyzes temporal dependencies and sequential relationships between frames to identify inconsistencies in videos.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flexible input options, including video file uploads and YouTube URLs for real-world usage.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video is classified as Real or Fake with a probability confidence score, and a concise report is generated to summarize the results.</a:t>
            </a:r>
          </a:p>
        </p:txBody>
      </p:sp>
    </p:spTree>
    <p:extLst>
      <p:ext uri="{BB962C8B-B14F-4D97-AF65-F5344CB8AC3E}">
        <p14:creationId xmlns:p14="http://schemas.microsoft.com/office/powerpoint/2010/main" val="3163877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Deepfake detection system architecture diagram">
            <a:extLst>
              <a:ext uri="{FF2B5EF4-FFF2-40B4-BE49-F238E27FC236}">
                <a16:creationId xmlns:a16="http://schemas.microsoft.com/office/drawing/2014/main" id="{933D8543-D92D-DDAC-E097-7D0A3D5E7B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Deepfake detection system architecture diagram">
            <a:extLst>
              <a:ext uri="{FF2B5EF4-FFF2-40B4-BE49-F238E27FC236}">
                <a16:creationId xmlns:a16="http://schemas.microsoft.com/office/drawing/2014/main" id="{02BBF163-104A-3398-316E-27D64192145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D2D99CF1-6F33-FA1D-9CC6-E60FEDA56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791" y="1441144"/>
            <a:ext cx="9960554" cy="4585312"/>
          </a:xfrm>
          <a:prstGeom prst="rect">
            <a:avLst/>
          </a:prstGeom>
        </p:spPr>
      </p:pic>
      <p:sp>
        <p:nvSpPr>
          <p:cNvPr id="10" name="TextBox 9">
            <a:extLst>
              <a:ext uri="{FF2B5EF4-FFF2-40B4-BE49-F238E27FC236}">
                <a16:creationId xmlns:a16="http://schemas.microsoft.com/office/drawing/2014/main" id="{049B8119-F811-0B14-21BD-D1D2D0B06AB8}"/>
              </a:ext>
            </a:extLst>
          </p:cNvPr>
          <p:cNvSpPr txBox="1"/>
          <p:nvPr/>
        </p:nvSpPr>
        <p:spPr>
          <a:xfrm>
            <a:off x="729155" y="614612"/>
            <a:ext cx="6093372" cy="430887"/>
          </a:xfrm>
          <a:prstGeom prst="rect">
            <a:avLst/>
          </a:prstGeom>
          <a:noFill/>
        </p:spPr>
        <p:txBody>
          <a:bodyPr wrap="square">
            <a:spAutoFit/>
          </a:bodyPr>
          <a:lstStyle/>
          <a:p>
            <a:r>
              <a:rPr lang="en-US" sz="2200" b="1" dirty="0">
                <a:latin typeface="Times New Roman" pitchFamily="18" charset="0"/>
                <a:cs typeface="Times New Roman" pitchFamily="18" charset="0"/>
              </a:rPr>
              <a:t>ARCHITECTURE DIAGRAM</a:t>
            </a:r>
            <a:endParaRPr lang="en-IN" sz="2200" dirty="0"/>
          </a:p>
        </p:txBody>
      </p:sp>
    </p:spTree>
    <p:extLst>
      <p:ext uri="{BB962C8B-B14F-4D97-AF65-F5344CB8AC3E}">
        <p14:creationId xmlns:p14="http://schemas.microsoft.com/office/powerpoint/2010/main" val="1090439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4E3CCC-3870-A31D-56F7-32C8B79E3179}"/>
              </a:ext>
            </a:extLst>
          </p:cNvPr>
          <p:cNvSpPr txBox="1"/>
          <p:nvPr/>
        </p:nvSpPr>
        <p:spPr>
          <a:xfrm>
            <a:off x="335017" y="280416"/>
            <a:ext cx="6093372" cy="430887"/>
          </a:xfrm>
          <a:prstGeom prst="rect">
            <a:avLst/>
          </a:prstGeom>
          <a:noFill/>
        </p:spPr>
        <p:txBody>
          <a:bodyPr wrap="square">
            <a:spAutoFit/>
          </a:bodyPr>
          <a:lstStyle/>
          <a:p>
            <a:r>
              <a:rPr lang="en-IN" sz="2200" b="1" dirty="0">
                <a:latin typeface="Times New Roman" pitchFamily="18" charset="0"/>
                <a:cs typeface="Times New Roman" pitchFamily="18" charset="0"/>
              </a:rPr>
              <a:t>SYSTEM CONFIGURATION</a:t>
            </a:r>
            <a:endParaRPr lang="en-IN" sz="2200" dirty="0"/>
          </a:p>
        </p:txBody>
      </p:sp>
      <p:sp>
        <p:nvSpPr>
          <p:cNvPr id="12" name="TextBox 11">
            <a:extLst>
              <a:ext uri="{FF2B5EF4-FFF2-40B4-BE49-F238E27FC236}">
                <a16:creationId xmlns:a16="http://schemas.microsoft.com/office/drawing/2014/main" id="{64CF6511-CB2F-C195-7F80-E8F3D3352E7B}"/>
              </a:ext>
            </a:extLst>
          </p:cNvPr>
          <p:cNvSpPr txBox="1"/>
          <p:nvPr/>
        </p:nvSpPr>
        <p:spPr>
          <a:xfrm>
            <a:off x="692370" y="711303"/>
            <a:ext cx="609337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HARDWARE CONFIGURATION</a:t>
            </a:r>
            <a:endParaRPr lang="en-IN" sz="2000" dirty="0">
              <a:latin typeface="Times New Roman" panose="02020603050405020304" pitchFamily="18" charset="0"/>
              <a:cs typeface="Times New Roman" panose="02020603050405020304" pitchFamily="18" charset="0"/>
            </a:endParaRPr>
          </a:p>
        </p:txBody>
      </p:sp>
      <p:graphicFrame>
        <p:nvGraphicFramePr>
          <p:cNvPr id="21" name="Table 20">
            <a:extLst>
              <a:ext uri="{FF2B5EF4-FFF2-40B4-BE49-F238E27FC236}">
                <a16:creationId xmlns:a16="http://schemas.microsoft.com/office/drawing/2014/main" id="{BE75A079-B3C9-B67C-3055-8357757D7EB8}"/>
              </a:ext>
            </a:extLst>
          </p:cNvPr>
          <p:cNvGraphicFramePr>
            <a:graphicFrameLocks noGrp="1"/>
          </p:cNvGraphicFramePr>
          <p:nvPr>
            <p:extLst>
              <p:ext uri="{D42A27DB-BD31-4B8C-83A1-F6EECF244321}">
                <p14:modId xmlns:p14="http://schemas.microsoft.com/office/powerpoint/2010/main" val="1855728669"/>
              </p:ext>
            </p:extLst>
          </p:nvPr>
        </p:nvGraphicFramePr>
        <p:xfrm>
          <a:off x="1369849" y="1328539"/>
          <a:ext cx="9193048" cy="1708851"/>
        </p:xfrm>
        <a:graphic>
          <a:graphicData uri="http://schemas.openxmlformats.org/drawingml/2006/table">
            <a:tbl>
              <a:tblPr firstRow="1" bandRow="1">
                <a:tableStyleId>{00A15C55-8517-42AA-B614-E9B94910E393}</a:tableStyleId>
              </a:tblPr>
              <a:tblGrid>
                <a:gridCol w="4727286">
                  <a:extLst>
                    <a:ext uri="{9D8B030D-6E8A-4147-A177-3AD203B41FA5}">
                      <a16:colId xmlns:a16="http://schemas.microsoft.com/office/drawing/2014/main" val="1307294878"/>
                    </a:ext>
                  </a:extLst>
                </a:gridCol>
                <a:gridCol w="4465762">
                  <a:extLst>
                    <a:ext uri="{9D8B030D-6E8A-4147-A177-3AD203B41FA5}">
                      <a16:colId xmlns:a16="http://schemas.microsoft.com/office/drawing/2014/main" val="1594136747"/>
                    </a:ext>
                  </a:extLst>
                </a:gridCol>
              </a:tblGrid>
              <a:tr h="447697">
                <a:tc>
                  <a:txBody>
                    <a:bodyPr/>
                    <a:lstStyle/>
                    <a:p>
                      <a:pPr>
                        <a:buNone/>
                      </a:pPr>
                      <a:r>
                        <a:rPr lang="en-IN"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a:latin typeface="Times New Roman" panose="02020603050405020304" pitchFamily="18" charset="0"/>
                          <a:cs typeface="Times New Roman" panose="02020603050405020304" pitchFamily="18" charset="0"/>
                        </a:rPr>
                        <a:t>Specification</a:t>
                      </a:r>
                    </a:p>
                  </a:txBody>
                  <a:tcPr anchor="ctr"/>
                </a:tc>
                <a:extLst>
                  <a:ext uri="{0D108BD9-81ED-4DB2-BD59-A6C34878D82A}">
                    <a16:rowId xmlns:a16="http://schemas.microsoft.com/office/drawing/2014/main" val="3081874433"/>
                  </a:ext>
                </a:extLst>
              </a:tr>
              <a:tr h="447697">
                <a:tc>
                  <a:txBody>
                    <a:bodyPr/>
                    <a:lstStyle/>
                    <a:p>
                      <a:pPr>
                        <a:buNone/>
                      </a:pPr>
                      <a:r>
                        <a:rPr lang="en-IN" dirty="0">
                          <a:latin typeface="Times New Roman" panose="02020603050405020304" pitchFamily="18" charset="0"/>
                          <a:cs typeface="Times New Roman" panose="02020603050405020304" pitchFamily="18" charset="0"/>
                        </a:rPr>
                        <a:t>Processor</a:t>
                      </a:r>
                    </a:p>
                  </a:txBody>
                  <a:tcPr anchor="ctr"/>
                </a:tc>
                <a:tc>
                  <a:txBody>
                    <a:bodyPr/>
                    <a:lstStyle/>
                    <a:p>
                      <a:pPr>
                        <a:buNone/>
                      </a:pPr>
                      <a:r>
                        <a:rPr lang="en-US" dirty="0">
                          <a:latin typeface="Times New Roman" panose="02020603050405020304" pitchFamily="18" charset="0"/>
                          <a:cs typeface="Times New Roman" panose="02020603050405020304" pitchFamily="18" charset="0"/>
                        </a:rPr>
                        <a:t>Intel Core i5 or higher</a:t>
                      </a:r>
                    </a:p>
                  </a:txBody>
                  <a:tcPr anchor="ctr"/>
                </a:tc>
                <a:extLst>
                  <a:ext uri="{0D108BD9-81ED-4DB2-BD59-A6C34878D82A}">
                    <a16:rowId xmlns:a16="http://schemas.microsoft.com/office/drawing/2014/main" val="2056818972"/>
                  </a:ext>
                </a:extLst>
              </a:tr>
              <a:tr h="0">
                <a:tc>
                  <a:txBody>
                    <a:bodyPr/>
                    <a:lstStyle/>
                    <a:p>
                      <a:pPr>
                        <a:buNone/>
                      </a:pPr>
                      <a:r>
                        <a:rPr lang="en-IN" dirty="0">
                          <a:latin typeface="Times New Roman" panose="02020603050405020304" pitchFamily="18" charset="0"/>
                          <a:cs typeface="Times New Roman" panose="02020603050405020304" pitchFamily="18" charset="0"/>
                        </a:rPr>
                        <a:t>RAM</a:t>
                      </a:r>
                    </a:p>
                  </a:txBody>
                  <a:tcPr anchor="ctr"/>
                </a:tc>
                <a:tc>
                  <a:txBody>
                    <a:bodyPr/>
                    <a:lstStyle/>
                    <a:p>
                      <a:pPr>
                        <a:buNone/>
                      </a:pPr>
                      <a:r>
                        <a:rPr lang="en-IN">
                          <a:latin typeface="Times New Roman" panose="02020603050405020304" pitchFamily="18" charset="0"/>
                          <a:cs typeface="Times New Roman" panose="02020603050405020304" pitchFamily="18" charset="0"/>
                        </a:rPr>
                        <a:t>8 GB or above</a:t>
                      </a:r>
                    </a:p>
                  </a:txBody>
                  <a:tcPr anchor="ctr"/>
                </a:tc>
                <a:extLst>
                  <a:ext uri="{0D108BD9-81ED-4DB2-BD59-A6C34878D82A}">
                    <a16:rowId xmlns:a16="http://schemas.microsoft.com/office/drawing/2014/main" val="3482741494"/>
                  </a:ext>
                </a:extLst>
              </a:tr>
              <a:tr h="447697">
                <a:tc>
                  <a:txBody>
                    <a:bodyPr/>
                    <a:lstStyle/>
                    <a:p>
                      <a:pPr>
                        <a:buNone/>
                      </a:pPr>
                      <a:r>
                        <a:rPr lang="en-IN" dirty="0">
                          <a:latin typeface="Times New Roman" panose="02020603050405020304" pitchFamily="18" charset="0"/>
                          <a:cs typeface="Times New Roman" panose="02020603050405020304" pitchFamily="18" charset="0"/>
                        </a:rPr>
                        <a:t>Hard Disk</a:t>
                      </a:r>
                    </a:p>
                  </a:txBody>
                  <a:tcPr anchor="ctr"/>
                </a:tc>
                <a:tc>
                  <a:txBody>
                    <a:bodyPr/>
                    <a:lstStyle/>
                    <a:p>
                      <a:pPr>
                        <a:buNone/>
                      </a:pPr>
                      <a:r>
                        <a:rPr lang="en-IN" dirty="0">
                          <a:latin typeface="Times New Roman" panose="02020603050405020304" pitchFamily="18" charset="0"/>
                          <a:cs typeface="Times New Roman" panose="02020603050405020304" pitchFamily="18" charset="0"/>
                        </a:rPr>
                        <a:t>500 GB or above</a:t>
                      </a:r>
                    </a:p>
                  </a:txBody>
                  <a:tcPr anchor="ctr"/>
                </a:tc>
                <a:extLst>
                  <a:ext uri="{0D108BD9-81ED-4DB2-BD59-A6C34878D82A}">
                    <a16:rowId xmlns:a16="http://schemas.microsoft.com/office/drawing/2014/main" val="2110898546"/>
                  </a:ext>
                </a:extLst>
              </a:tr>
            </a:tbl>
          </a:graphicData>
        </a:graphic>
      </p:graphicFrame>
      <p:sp>
        <p:nvSpPr>
          <p:cNvPr id="23" name="TextBox 22">
            <a:extLst>
              <a:ext uri="{FF2B5EF4-FFF2-40B4-BE49-F238E27FC236}">
                <a16:creationId xmlns:a16="http://schemas.microsoft.com/office/drawing/2014/main" id="{1AE4ABEF-28E6-6120-5ED5-3B73C658EF5F}"/>
              </a:ext>
            </a:extLst>
          </p:cNvPr>
          <p:cNvSpPr txBox="1"/>
          <p:nvPr/>
        </p:nvSpPr>
        <p:spPr>
          <a:xfrm>
            <a:off x="1133804" y="3336453"/>
            <a:ext cx="609337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SOFTWARE CONFIGURATION</a:t>
            </a:r>
            <a:endParaRPr lang="en-IN" sz="2000" dirty="0"/>
          </a:p>
        </p:txBody>
      </p:sp>
      <p:graphicFrame>
        <p:nvGraphicFramePr>
          <p:cNvPr id="26" name="Table 25">
            <a:extLst>
              <a:ext uri="{FF2B5EF4-FFF2-40B4-BE49-F238E27FC236}">
                <a16:creationId xmlns:a16="http://schemas.microsoft.com/office/drawing/2014/main" id="{63893F82-764A-BE88-7E69-3FCE10F58A7C}"/>
              </a:ext>
            </a:extLst>
          </p:cNvPr>
          <p:cNvGraphicFramePr>
            <a:graphicFrameLocks noGrp="1"/>
          </p:cNvGraphicFramePr>
          <p:nvPr>
            <p:extLst>
              <p:ext uri="{D42A27DB-BD31-4B8C-83A1-F6EECF244321}">
                <p14:modId xmlns:p14="http://schemas.microsoft.com/office/powerpoint/2010/main" val="3720540023"/>
              </p:ext>
            </p:extLst>
          </p:nvPr>
        </p:nvGraphicFramePr>
        <p:xfrm>
          <a:off x="1369849" y="3953689"/>
          <a:ext cx="9193048" cy="2595880"/>
        </p:xfrm>
        <a:graphic>
          <a:graphicData uri="http://schemas.openxmlformats.org/drawingml/2006/table">
            <a:tbl>
              <a:tblPr firstRow="1" bandRow="1">
                <a:tableStyleId>{00A15C55-8517-42AA-B614-E9B94910E393}</a:tableStyleId>
              </a:tblPr>
              <a:tblGrid>
                <a:gridCol w="4596524">
                  <a:extLst>
                    <a:ext uri="{9D8B030D-6E8A-4147-A177-3AD203B41FA5}">
                      <a16:colId xmlns:a16="http://schemas.microsoft.com/office/drawing/2014/main" val="1229398576"/>
                    </a:ext>
                  </a:extLst>
                </a:gridCol>
                <a:gridCol w="4596524">
                  <a:extLst>
                    <a:ext uri="{9D8B030D-6E8A-4147-A177-3AD203B41FA5}">
                      <a16:colId xmlns:a16="http://schemas.microsoft.com/office/drawing/2014/main" val="1436164003"/>
                    </a:ext>
                  </a:extLst>
                </a:gridCol>
              </a:tblGrid>
              <a:tr h="370840">
                <a:tc>
                  <a:txBody>
                    <a:bodyPr/>
                    <a:lstStyle/>
                    <a:p>
                      <a:pPr>
                        <a:buNone/>
                      </a:pPr>
                      <a:r>
                        <a:rPr lang="en-IN"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a:latin typeface="Times New Roman" panose="02020603050405020304" pitchFamily="18" charset="0"/>
                          <a:cs typeface="Times New Roman" panose="02020603050405020304" pitchFamily="18" charset="0"/>
                        </a:rPr>
                        <a:t>Specification</a:t>
                      </a:r>
                    </a:p>
                  </a:txBody>
                  <a:tcPr anchor="ctr"/>
                </a:tc>
                <a:extLst>
                  <a:ext uri="{0D108BD9-81ED-4DB2-BD59-A6C34878D82A}">
                    <a16:rowId xmlns:a16="http://schemas.microsoft.com/office/drawing/2014/main" val="2678912106"/>
                  </a:ext>
                </a:extLst>
              </a:tr>
              <a:tr h="370840">
                <a:tc>
                  <a:txBody>
                    <a:bodyPr/>
                    <a:lstStyle/>
                    <a:p>
                      <a:pPr>
                        <a:buNone/>
                      </a:pPr>
                      <a:r>
                        <a:rPr lang="en-IN">
                          <a:latin typeface="Times New Roman" panose="02020603050405020304" pitchFamily="18" charset="0"/>
                          <a:cs typeface="Times New Roman" panose="02020603050405020304" pitchFamily="18" charset="0"/>
                        </a:rPr>
                        <a:t>Operating System</a:t>
                      </a:r>
                    </a:p>
                  </a:txBody>
                  <a:tcPr anchor="ctr"/>
                </a:tc>
                <a:tc>
                  <a:txBody>
                    <a:bodyPr/>
                    <a:lstStyle/>
                    <a:p>
                      <a:pPr>
                        <a:buNone/>
                      </a:pPr>
                      <a:r>
                        <a:rPr lang="en-IN">
                          <a:latin typeface="Times New Roman" panose="02020603050405020304" pitchFamily="18" charset="0"/>
                          <a:cs typeface="Times New Roman" panose="02020603050405020304" pitchFamily="18" charset="0"/>
                        </a:rPr>
                        <a:t>Windows 10 / Windows 11</a:t>
                      </a:r>
                    </a:p>
                  </a:txBody>
                  <a:tcPr anchor="ctr"/>
                </a:tc>
                <a:extLst>
                  <a:ext uri="{0D108BD9-81ED-4DB2-BD59-A6C34878D82A}">
                    <a16:rowId xmlns:a16="http://schemas.microsoft.com/office/drawing/2014/main" val="155598741"/>
                  </a:ext>
                </a:extLst>
              </a:tr>
              <a:tr h="370840">
                <a:tc>
                  <a:txBody>
                    <a:bodyPr/>
                    <a:lstStyle/>
                    <a:p>
                      <a:pPr>
                        <a:buNone/>
                      </a:pPr>
                      <a:r>
                        <a:rPr lang="en-IN" dirty="0">
                          <a:latin typeface="Times New Roman" panose="02020603050405020304" pitchFamily="18" charset="0"/>
                          <a:cs typeface="Times New Roman" panose="02020603050405020304" pitchFamily="18" charset="0"/>
                        </a:rPr>
                        <a:t>Programming Language</a:t>
                      </a:r>
                    </a:p>
                  </a:txBody>
                  <a:tcPr anchor="ctr"/>
                </a:tc>
                <a:tc>
                  <a:txBody>
                    <a:bodyPr/>
                    <a:lstStyle/>
                    <a:p>
                      <a:pPr>
                        <a:buNone/>
                      </a:pPr>
                      <a:r>
                        <a:rPr lang="en-IN">
                          <a:latin typeface="Times New Roman" panose="02020603050405020304" pitchFamily="18" charset="0"/>
                          <a:cs typeface="Times New Roman" panose="02020603050405020304" pitchFamily="18" charset="0"/>
                        </a:rPr>
                        <a:t>Python</a:t>
                      </a:r>
                    </a:p>
                  </a:txBody>
                  <a:tcPr anchor="ctr"/>
                </a:tc>
                <a:extLst>
                  <a:ext uri="{0D108BD9-81ED-4DB2-BD59-A6C34878D82A}">
                    <a16:rowId xmlns:a16="http://schemas.microsoft.com/office/drawing/2014/main" val="283869110"/>
                  </a:ext>
                </a:extLst>
              </a:tr>
              <a:tr h="370840">
                <a:tc>
                  <a:txBody>
                    <a:bodyPr/>
                    <a:lstStyle/>
                    <a:p>
                      <a:pPr>
                        <a:buNone/>
                      </a:pPr>
                      <a:r>
                        <a:rPr lang="en-IN">
                          <a:latin typeface="Times New Roman" panose="02020603050405020304" pitchFamily="18" charset="0"/>
                          <a:cs typeface="Times New Roman" panose="02020603050405020304" pitchFamily="18" charset="0"/>
                        </a:rPr>
                        <a:t>Database</a:t>
                      </a:r>
                    </a:p>
                  </a:txBody>
                  <a:tcPr anchor="ctr"/>
                </a:tc>
                <a:tc>
                  <a:txBody>
                    <a:bodyPr/>
                    <a:lstStyle/>
                    <a:p>
                      <a:pPr>
                        <a:buNone/>
                      </a:pPr>
                      <a:r>
                        <a:rPr lang="en-IN">
                          <a:latin typeface="Times New Roman" panose="02020603050405020304" pitchFamily="18" charset="0"/>
                          <a:cs typeface="Times New Roman" panose="02020603050405020304" pitchFamily="18" charset="0"/>
                        </a:rPr>
                        <a:t>SQLite</a:t>
                      </a:r>
                    </a:p>
                  </a:txBody>
                  <a:tcPr anchor="ctr"/>
                </a:tc>
                <a:extLst>
                  <a:ext uri="{0D108BD9-81ED-4DB2-BD59-A6C34878D82A}">
                    <a16:rowId xmlns:a16="http://schemas.microsoft.com/office/drawing/2014/main" val="3037449686"/>
                  </a:ext>
                </a:extLst>
              </a:tr>
              <a:tr h="370840">
                <a:tc>
                  <a:txBody>
                    <a:bodyPr/>
                    <a:lstStyle/>
                    <a:p>
                      <a:pPr>
                        <a:buNone/>
                      </a:pPr>
                      <a:r>
                        <a:rPr lang="en-IN">
                          <a:latin typeface="Times New Roman" panose="02020603050405020304" pitchFamily="18" charset="0"/>
                          <a:cs typeface="Times New Roman" panose="02020603050405020304" pitchFamily="18" charset="0"/>
                        </a:rPr>
                        <a:t>Frontend Technologies</a:t>
                      </a:r>
                    </a:p>
                  </a:txBody>
                  <a:tcPr anchor="ctr"/>
                </a:tc>
                <a:tc>
                  <a:txBody>
                    <a:bodyPr/>
                    <a:lstStyle/>
                    <a:p>
                      <a:pPr>
                        <a:buNone/>
                      </a:pPr>
                      <a:r>
                        <a:rPr lang="en-IN">
                          <a:latin typeface="Times New Roman" panose="02020603050405020304" pitchFamily="18" charset="0"/>
                          <a:cs typeface="Times New Roman" panose="02020603050405020304" pitchFamily="18" charset="0"/>
                        </a:rPr>
                        <a:t>HTML, CSS</a:t>
                      </a:r>
                    </a:p>
                  </a:txBody>
                  <a:tcPr anchor="ctr"/>
                </a:tc>
                <a:extLst>
                  <a:ext uri="{0D108BD9-81ED-4DB2-BD59-A6C34878D82A}">
                    <a16:rowId xmlns:a16="http://schemas.microsoft.com/office/drawing/2014/main" val="1664969916"/>
                  </a:ext>
                </a:extLst>
              </a:tr>
              <a:tr h="370840">
                <a:tc>
                  <a:txBody>
                    <a:bodyPr/>
                    <a:lstStyle/>
                    <a:p>
                      <a:pPr>
                        <a:buNone/>
                      </a:pPr>
                      <a:r>
                        <a:rPr lang="en-IN">
                          <a:latin typeface="Times New Roman" panose="02020603050405020304" pitchFamily="18" charset="0"/>
                          <a:cs typeface="Times New Roman" panose="02020603050405020304" pitchFamily="18" charset="0"/>
                        </a:rPr>
                        <a:t>Libraries / Frameworks</a:t>
                      </a:r>
                    </a:p>
                  </a:txBody>
                  <a:tcPr anchor="ctr"/>
                </a:tc>
                <a:tc>
                  <a:txBody>
                    <a:bodyPr/>
                    <a:lstStyle/>
                    <a:p>
                      <a:pPr>
                        <a:buNone/>
                      </a:pPr>
                      <a:r>
                        <a:rPr lang="en-IN">
                          <a:latin typeface="Times New Roman" panose="02020603050405020304" pitchFamily="18" charset="0"/>
                          <a:cs typeface="Times New Roman" panose="02020603050405020304" pitchFamily="18" charset="0"/>
                        </a:rPr>
                        <a:t>OpenCV</a:t>
                      </a:r>
                    </a:p>
                  </a:txBody>
                  <a:tcPr anchor="ctr"/>
                </a:tc>
                <a:extLst>
                  <a:ext uri="{0D108BD9-81ED-4DB2-BD59-A6C34878D82A}">
                    <a16:rowId xmlns:a16="http://schemas.microsoft.com/office/drawing/2014/main" val="495925512"/>
                  </a:ext>
                </a:extLst>
              </a:tr>
              <a:tr h="370840">
                <a:tc>
                  <a:txBody>
                    <a:bodyPr/>
                    <a:lstStyle/>
                    <a:p>
                      <a:pPr>
                        <a:buNone/>
                      </a:pPr>
                      <a:r>
                        <a:rPr lang="en-IN">
                          <a:latin typeface="Times New Roman" panose="02020603050405020304" pitchFamily="18" charset="0"/>
                          <a:cs typeface="Times New Roman" panose="02020603050405020304" pitchFamily="18" charset="0"/>
                        </a:rPr>
                        <a:t>Tools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Python IDLE, OpenCV, VS Code</a:t>
                      </a:r>
                    </a:p>
                  </a:txBody>
                  <a:tcPr anchor="ctr"/>
                </a:tc>
                <a:extLst>
                  <a:ext uri="{0D108BD9-81ED-4DB2-BD59-A6C34878D82A}">
                    <a16:rowId xmlns:a16="http://schemas.microsoft.com/office/drawing/2014/main" val="3520929973"/>
                  </a:ext>
                </a:extLst>
              </a:tr>
            </a:tbl>
          </a:graphicData>
        </a:graphic>
      </p:graphicFrame>
    </p:spTree>
    <p:extLst>
      <p:ext uri="{BB962C8B-B14F-4D97-AF65-F5344CB8AC3E}">
        <p14:creationId xmlns:p14="http://schemas.microsoft.com/office/powerpoint/2010/main" val="2660341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46F7DA-B75C-22EF-5ADC-EC84FF528D76}"/>
              </a:ext>
            </a:extLst>
          </p:cNvPr>
          <p:cNvSpPr txBox="1"/>
          <p:nvPr/>
        </p:nvSpPr>
        <p:spPr>
          <a:xfrm>
            <a:off x="1091761" y="504524"/>
            <a:ext cx="6093372" cy="769441"/>
          </a:xfrm>
          <a:prstGeom prst="rect">
            <a:avLst/>
          </a:prstGeom>
          <a:noFill/>
        </p:spPr>
        <p:txBody>
          <a:bodyPr wrap="square">
            <a:spAutoFit/>
          </a:bodyPr>
          <a:lstStyle/>
          <a:p>
            <a:r>
              <a:rPr lang="en-IN" sz="2200" b="1" dirty="0">
                <a:latin typeface="Times New Roman" pitchFamily="18" charset="0"/>
                <a:cs typeface="Times New Roman" pitchFamily="18" charset="0"/>
              </a:rPr>
              <a:t>LIST OF MODULES</a:t>
            </a:r>
            <a:br>
              <a:rPr lang="en-IN" sz="2200" dirty="0">
                <a:latin typeface="Times New Roman" pitchFamily="18" charset="0"/>
                <a:cs typeface="Times New Roman" pitchFamily="18" charset="0"/>
              </a:rPr>
            </a:br>
            <a:endParaRPr lang="en-IN" sz="2200" dirty="0"/>
          </a:p>
        </p:txBody>
      </p:sp>
      <p:sp>
        <p:nvSpPr>
          <p:cNvPr id="5" name="TextBox 4">
            <a:extLst>
              <a:ext uri="{FF2B5EF4-FFF2-40B4-BE49-F238E27FC236}">
                <a16:creationId xmlns:a16="http://schemas.microsoft.com/office/drawing/2014/main" id="{57B20750-C9DF-AAB9-6B40-9A7EC7BF8DEE}"/>
              </a:ext>
            </a:extLst>
          </p:cNvPr>
          <p:cNvSpPr txBox="1"/>
          <p:nvPr/>
        </p:nvSpPr>
        <p:spPr>
          <a:xfrm>
            <a:off x="1501665" y="1656720"/>
            <a:ext cx="6093372" cy="253556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800" dirty="0">
                <a:latin typeface="Times New Roman" pitchFamily="18" charset="0"/>
                <a:cs typeface="Times New Roman" pitchFamily="18" charset="0"/>
              </a:rPr>
              <a:t>Data Collection &amp; Preprocessing</a:t>
            </a:r>
          </a:p>
          <a:p>
            <a:pPr marL="285750" lvl="0" indent="-285750">
              <a:lnSpc>
                <a:spcPct val="150000"/>
              </a:lnSpc>
              <a:buFont typeface="Arial" panose="020B0604020202020204" pitchFamily="34" charset="0"/>
              <a:buChar char="•"/>
            </a:pPr>
            <a:r>
              <a:rPr lang="en-IN" sz="1800" dirty="0">
                <a:latin typeface="Times New Roman" pitchFamily="18" charset="0"/>
                <a:cs typeface="Times New Roman" pitchFamily="18" charset="0"/>
              </a:rPr>
              <a:t>Feature Extraction Module (Efficient Net</a:t>
            </a:r>
            <a:r>
              <a:rPr lang="en-IN"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p>
            <a:pPr marL="285750" indent="-285750">
              <a:lnSpc>
                <a:spcPct val="150000"/>
              </a:lnSpc>
              <a:buFont typeface="Arial" panose="020B0604020202020204" pitchFamily="34" charset="0"/>
              <a:buChar char="•"/>
            </a:pPr>
            <a:r>
              <a:rPr lang="en-IN" dirty="0">
                <a:latin typeface="Times New Roman" pitchFamily="18" charset="0"/>
                <a:cs typeface="Times New Roman" pitchFamily="18" charset="0"/>
              </a:rPr>
              <a:t>Feature Extraction Module (</a:t>
            </a:r>
            <a:r>
              <a:rPr lang="en-IN" dirty="0"/>
              <a:t>Vision Transformer  VIT</a:t>
            </a:r>
            <a:r>
              <a:rPr lang="en-IN"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p>
            <a:pPr marL="285750" lvl="0" indent="-285750">
              <a:lnSpc>
                <a:spcPct val="150000"/>
              </a:lnSpc>
              <a:buFont typeface="Arial" panose="020B0604020202020204" pitchFamily="34" charset="0"/>
              <a:buChar char="•"/>
            </a:pPr>
            <a:r>
              <a:rPr lang="en-IN" sz="1800" dirty="0">
                <a:latin typeface="Times New Roman" pitchFamily="18" charset="0"/>
                <a:cs typeface="Times New Roman" pitchFamily="18" charset="0"/>
              </a:rPr>
              <a:t>Temporal Sequence Learning Module (Bi</a:t>
            </a:r>
            <a:r>
              <a:rPr lang="en-IN" dirty="0">
                <a:latin typeface="Times New Roman" pitchFamily="18" charset="0"/>
                <a:cs typeface="Times New Roman" pitchFamily="18" charset="0"/>
              </a:rPr>
              <a:t>-</a:t>
            </a:r>
            <a:r>
              <a:rPr lang="en-IN" sz="1800" dirty="0">
                <a:latin typeface="Times New Roman" pitchFamily="18" charset="0"/>
                <a:cs typeface="Times New Roman" pitchFamily="18" charset="0"/>
              </a:rPr>
              <a:t>LSTM)</a:t>
            </a:r>
          </a:p>
          <a:p>
            <a:pPr marL="285750" lvl="0" indent="-285750">
              <a:lnSpc>
                <a:spcPct val="150000"/>
              </a:lnSpc>
              <a:buFont typeface="Arial" panose="020B0604020202020204" pitchFamily="34" charset="0"/>
              <a:buChar char="•"/>
            </a:pPr>
            <a:r>
              <a:rPr lang="en-IN" sz="1800" dirty="0">
                <a:latin typeface="Times New Roman" pitchFamily="18" charset="0"/>
                <a:cs typeface="Times New Roman" pitchFamily="18" charset="0"/>
              </a:rPr>
              <a:t>Classification Module</a:t>
            </a:r>
          </a:p>
          <a:p>
            <a:pPr marL="285750" lvl="0" indent="-285750">
              <a:lnSpc>
                <a:spcPct val="150000"/>
              </a:lnSpc>
              <a:buFont typeface="Arial" panose="020B0604020202020204" pitchFamily="34" charset="0"/>
              <a:buChar char="•"/>
            </a:pPr>
            <a:r>
              <a:rPr lang="en-IN" sz="1800" dirty="0">
                <a:latin typeface="Times New Roman" pitchFamily="18" charset="0"/>
                <a:cs typeface="Times New Roman" pitchFamily="18" charset="0"/>
              </a:rPr>
              <a:t>Report Generation Module</a:t>
            </a:r>
          </a:p>
        </p:txBody>
      </p:sp>
    </p:spTree>
    <p:extLst>
      <p:ext uri="{BB962C8B-B14F-4D97-AF65-F5344CB8AC3E}">
        <p14:creationId xmlns:p14="http://schemas.microsoft.com/office/powerpoint/2010/main" val="3162395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E88DDB-E0C2-3696-A569-707A20D8CA7C}"/>
              </a:ext>
            </a:extLst>
          </p:cNvPr>
          <p:cNvSpPr txBox="1"/>
          <p:nvPr/>
        </p:nvSpPr>
        <p:spPr>
          <a:xfrm>
            <a:off x="492672" y="0"/>
            <a:ext cx="6093372" cy="769441"/>
          </a:xfrm>
          <a:prstGeom prst="rect">
            <a:avLst/>
          </a:prstGeom>
          <a:noFill/>
        </p:spPr>
        <p:txBody>
          <a:bodyPr wrap="square">
            <a:spAutoFit/>
          </a:bodyPr>
          <a:lstStyle/>
          <a:p>
            <a:endParaRPr lang="en-IN" sz="2200" b="1" dirty="0">
              <a:latin typeface="Times New Roman" pitchFamily="18" charset="0"/>
              <a:cs typeface="Times New Roman" pitchFamily="18" charset="0"/>
            </a:endParaRPr>
          </a:p>
          <a:p>
            <a:r>
              <a:rPr lang="en-IN" sz="2200" b="1" dirty="0">
                <a:latin typeface="Times New Roman" pitchFamily="18" charset="0"/>
                <a:cs typeface="Times New Roman" pitchFamily="18" charset="0"/>
              </a:rPr>
              <a:t>MODULE DESCRIPTIONS</a:t>
            </a:r>
            <a:endParaRPr lang="en-IN" sz="2200" dirty="0"/>
          </a:p>
        </p:txBody>
      </p:sp>
      <p:sp>
        <p:nvSpPr>
          <p:cNvPr id="5" name="TextBox 4">
            <a:extLst>
              <a:ext uri="{FF2B5EF4-FFF2-40B4-BE49-F238E27FC236}">
                <a16:creationId xmlns:a16="http://schemas.microsoft.com/office/drawing/2014/main" id="{F5F56E2B-75D3-C43C-9A66-2A4304161541}"/>
              </a:ext>
            </a:extLst>
          </p:cNvPr>
          <p:cNvSpPr txBox="1"/>
          <p:nvPr/>
        </p:nvSpPr>
        <p:spPr>
          <a:xfrm>
            <a:off x="855280" y="1528818"/>
            <a:ext cx="6093372" cy="458074"/>
          </a:xfrm>
          <a:prstGeom prst="rect">
            <a:avLst/>
          </a:prstGeom>
          <a:noFill/>
        </p:spPr>
        <p:txBody>
          <a:bodyPr wrap="square">
            <a:spAutoFit/>
          </a:bodyPr>
          <a:lstStyle/>
          <a:p>
            <a:pPr marL="0" indent="0" algn="just">
              <a:lnSpc>
                <a:spcPct val="150000"/>
              </a:lnSpc>
              <a:buNone/>
            </a:pPr>
            <a:r>
              <a:rPr lang="en-IN" sz="1800" b="1" dirty="0">
                <a:latin typeface="Times New Roman" pitchFamily="18" charset="0"/>
                <a:cs typeface="Times New Roman" pitchFamily="18" charset="0"/>
              </a:rPr>
              <a:t>DATA COLLECTION &amp; PREPROCESSING</a:t>
            </a:r>
            <a:endParaRPr lang="en-IN" sz="18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1E702AF8-3473-463E-BC49-CD7A18558C3B}"/>
              </a:ext>
            </a:extLst>
          </p:cNvPr>
          <p:cNvSpPr txBox="1"/>
          <p:nvPr/>
        </p:nvSpPr>
        <p:spPr>
          <a:xfrm>
            <a:off x="855280" y="2368966"/>
            <a:ext cx="10227879" cy="2120068"/>
          </a:xfrm>
          <a:prstGeom prst="rect">
            <a:avLst/>
          </a:prstGeom>
          <a:noFill/>
        </p:spPr>
        <p:txBody>
          <a:bodyPr wrap="square">
            <a:spAutoFit/>
          </a:bodyPr>
          <a:lstStyle/>
          <a:p>
            <a:pPr algn="just">
              <a:lnSpc>
                <a:spcPct val="150000"/>
              </a:lnSpc>
            </a:pPr>
            <a:r>
              <a:rPr lang="en-IN" sz="1800" dirty="0">
                <a:latin typeface="Times New Roman" pitchFamily="18" charset="0"/>
                <a:cs typeface="Times New Roman" pitchFamily="18" charset="0"/>
              </a:rPr>
              <a:t>The Data Collection and Preprocessing module is responsible for gathering real and fake video datasets and preparing them for further processing. Videos are broken down into frames, and these frames are resized, normalized, and cleaned to remove noise or unwanted distortions. This ensures that the input data is consistent and suitable for training and testing the model. Proper preprocessing enhances the quality of data and improves the efficiency and accuracy of feature extraction.</a:t>
            </a:r>
          </a:p>
        </p:txBody>
      </p:sp>
    </p:spTree>
    <p:extLst>
      <p:ext uri="{BB962C8B-B14F-4D97-AF65-F5344CB8AC3E}">
        <p14:creationId xmlns:p14="http://schemas.microsoft.com/office/powerpoint/2010/main" val="3356351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CA5813-643F-DB4C-29B7-1B863C8E43A5}"/>
              </a:ext>
            </a:extLst>
          </p:cNvPr>
          <p:cNvSpPr txBox="1"/>
          <p:nvPr/>
        </p:nvSpPr>
        <p:spPr>
          <a:xfrm>
            <a:off x="571500" y="330639"/>
            <a:ext cx="6093372" cy="458074"/>
          </a:xfrm>
          <a:prstGeom prst="rect">
            <a:avLst/>
          </a:prstGeom>
          <a:noFill/>
        </p:spPr>
        <p:txBody>
          <a:bodyPr wrap="square">
            <a:spAutoFit/>
          </a:bodyPr>
          <a:lstStyle/>
          <a:p>
            <a:pPr marL="0" indent="0" algn="just">
              <a:lnSpc>
                <a:spcPct val="150000"/>
              </a:lnSpc>
              <a:buNone/>
            </a:pPr>
            <a:r>
              <a:rPr lang="en-IN" sz="1800" b="1" dirty="0">
                <a:latin typeface="Times New Roman" pitchFamily="18" charset="0"/>
                <a:cs typeface="Times New Roman" pitchFamily="18" charset="0"/>
              </a:rPr>
              <a:t>FEATURE EXTRACTION MODULE (EFFICIENT NET)</a:t>
            </a:r>
            <a:endParaRPr lang="en-IN" sz="1800"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3AA9F870-ECA7-8DBE-4B46-AD078AAFF3B8}"/>
              </a:ext>
            </a:extLst>
          </p:cNvPr>
          <p:cNvSpPr txBox="1"/>
          <p:nvPr/>
        </p:nvSpPr>
        <p:spPr>
          <a:xfrm>
            <a:off x="958412" y="1052036"/>
            <a:ext cx="10275175" cy="2120068"/>
          </a:xfrm>
          <a:prstGeom prst="rect">
            <a:avLst/>
          </a:prstGeom>
          <a:noFill/>
        </p:spPr>
        <p:txBody>
          <a:bodyPr wrap="square">
            <a:spAutoFit/>
          </a:bodyPr>
          <a:lstStyle/>
          <a:p>
            <a:pPr algn="just">
              <a:lnSpc>
                <a:spcPct val="150000"/>
              </a:lnSpc>
            </a:pPr>
            <a:r>
              <a:rPr lang="en-IN" sz="1800" dirty="0">
                <a:latin typeface="Times New Roman" pitchFamily="18" charset="0"/>
                <a:cs typeface="Times New Roman" pitchFamily="18" charset="0"/>
              </a:rPr>
              <a:t>A powerful deep learning architecture, to extract rich and discriminative features from video frames. Efficient Net is chosen for its ability to achieve high accuracy with fewer parameters, making it computationally efficient while preserving important visual details. This module captures spatial patterns such as facial features, expressions, and fine-grained details that are crucial for differentiating between real and manipulated content.</a:t>
            </a:r>
          </a:p>
        </p:txBody>
      </p:sp>
      <p:pic>
        <p:nvPicPr>
          <p:cNvPr id="6" name="Picture 5">
            <a:extLst>
              <a:ext uri="{FF2B5EF4-FFF2-40B4-BE49-F238E27FC236}">
                <a16:creationId xmlns:a16="http://schemas.microsoft.com/office/drawing/2014/main" id="{7880EE9D-EA85-37C5-EED3-0E26352D7106}"/>
              </a:ext>
            </a:extLst>
          </p:cNvPr>
          <p:cNvPicPr>
            <a:picLocks noChangeAspect="1"/>
          </p:cNvPicPr>
          <p:nvPr/>
        </p:nvPicPr>
        <p:blipFill>
          <a:blip r:embed="rId2"/>
          <a:srcRect l="20450" t="30453" r="21651" b="24828"/>
          <a:stretch>
            <a:fillRect/>
          </a:stretch>
        </p:blipFill>
        <p:spPr bwMode="auto">
          <a:xfrm>
            <a:off x="1214204" y="3172104"/>
            <a:ext cx="10088380" cy="3378130"/>
          </a:xfrm>
          <a:prstGeom prst="rect">
            <a:avLst/>
          </a:prstGeom>
          <a:noFill/>
        </p:spPr>
      </p:pic>
    </p:spTree>
    <p:extLst>
      <p:ext uri="{BB962C8B-B14F-4D97-AF65-F5344CB8AC3E}">
        <p14:creationId xmlns:p14="http://schemas.microsoft.com/office/powerpoint/2010/main" val="2742736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D87194-5072-CD44-79D4-23300113B312}"/>
              </a:ext>
            </a:extLst>
          </p:cNvPr>
          <p:cNvSpPr txBox="1"/>
          <p:nvPr/>
        </p:nvSpPr>
        <p:spPr>
          <a:xfrm>
            <a:off x="725215" y="469731"/>
            <a:ext cx="8540968" cy="458074"/>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itchFamily="18" charset="0"/>
              </a:rPr>
              <a:t>FEATURE EXTRACTION MODULE (VISION TRANSFORMER – VIT)</a:t>
            </a:r>
            <a:endParaRPr lang="en-IN" sz="1800" b="1" dirty="0">
              <a:latin typeface="Times New Roman" panose="02020603050405020304" pitchFamily="18" charset="0"/>
              <a:cs typeface="Times New Roman" pitchFamily="18" charset="0"/>
            </a:endParaRPr>
          </a:p>
        </p:txBody>
      </p:sp>
      <p:sp>
        <p:nvSpPr>
          <p:cNvPr id="5" name="TextBox 4">
            <a:extLst>
              <a:ext uri="{FF2B5EF4-FFF2-40B4-BE49-F238E27FC236}">
                <a16:creationId xmlns:a16="http://schemas.microsoft.com/office/drawing/2014/main" id="{1E282E30-29A2-98E2-CF87-392A3D65C649}"/>
              </a:ext>
            </a:extLst>
          </p:cNvPr>
          <p:cNvSpPr txBox="1"/>
          <p:nvPr/>
        </p:nvSpPr>
        <p:spPr>
          <a:xfrm>
            <a:off x="1308538" y="893434"/>
            <a:ext cx="8982403"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Vision Transformer (VIT) extracts advanced visual features from video frames using a transformer-based</a:t>
            </a:r>
          </a:p>
          <a:p>
            <a:pPr algn="just">
              <a:lnSpc>
                <a:spcPct val="150000"/>
              </a:lnSpc>
            </a:pPr>
            <a:r>
              <a:rPr lang="en-US" dirty="0">
                <a:latin typeface="Times New Roman" panose="02020603050405020304" pitchFamily="18" charset="0"/>
                <a:cs typeface="Times New Roman" panose="02020603050405020304" pitchFamily="18" charset="0"/>
              </a:rPr>
              <a:t> architecture. It divides each frame into small patches and processes them using a self-attention mechanism. This helps capture global relationships and important regions within the image. As a result, the model can detect subtle manipulation patterns present in deepfake videos.</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6" name="Image15">
            <a:extLst>
              <a:ext uri="{FF2B5EF4-FFF2-40B4-BE49-F238E27FC236}">
                <a16:creationId xmlns:a16="http://schemas.microsoft.com/office/drawing/2014/main" id="{9035A8B6-216B-67B1-0D26-F3F586793C54}"/>
              </a:ext>
            </a:extLst>
          </p:cNvPr>
          <p:cNvPicPr>
            <a:picLocks noChangeAspect="1"/>
          </p:cNvPicPr>
          <p:nvPr/>
        </p:nvPicPr>
        <p:blipFill>
          <a:blip r:embed="rId2"/>
          <a:stretch>
            <a:fillRect/>
          </a:stretch>
        </p:blipFill>
        <p:spPr bwMode="auto">
          <a:xfrm>
            <a:off x="1825515" y="3228256"/>
            <a:ext cx="8540969" cy="3160013"/>
          </a:xfrm>
          <a:prstGeom prst="rect">
            <a:avLst/>
          </a:prstGeom>
          <a:noFill/>
        </p:spPr>
      </p:pic>
    </p:spTree>
    <p:extLst>
      <p:ext uri="{BB962C8B-B14F-4D97-AF65-F5344CB8AC3E}">
        <p14:creationId xmlns:p14="http://schemas.microsoft.com/office/powerpoint/2010/main" val="2607991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4498CC-48EE-347F-8520-0EB240BB4C79}"/>
              </a:ext>
            </a:extLst>
          </p:cNvPr>
          <p:cNvSpPr txBox="1"/>
          <p:nvPr/>
        </p:nvSpPr>
        <p:spPr>
          <a:xfrm>
            <a:off x="772510" y="1127136"/>
            <a:ext cx="9837683" cy="2535566"/>
          </a:xfrm>
          <a:prstGeom prst="rect">
            <a:avLst/>
          </a:prstGeom>
          <a:noFill/>
        </p:spPr>
        <p:txBody>
          <a:bodyPr wrap="square">
            <a:spAutoFit/>
          </a:bodyPr>
          <a:lstStyle/>
          <a:p>
            <a:pPr algn="just">
              <a:lnSpc>
                <a:spcPct val="150000"/>
              </a:lnSpc>
            </a:pPr>
            <a:r>
              <a:rPr lang="en-IN" sz="1800" dirty="0">
                <a:latin typeface="Times New Roman" pitchFamily="18" charset="0"/>
                <a:cs typeface="Times New Roman" pitchFamily="18" charset="0"/>
              </a:rPr>
              <a:t>The Temporal Sequence Learning module utilizes a Bidirectional Long Short-Term Memory (Bi-LSTM) network to </a:t>
            </a:r>
            <a:r>
              <a:rPr lang="en-IN" sz="1800" dirty="0" err="1">
                <a:latin typeface="Times New Roman" pitchFamily="18" charset="0"/>
                <a:cs typeface="Times New Roman" pitchFamily="18" charset="0"/>
              </a:rPr>
              <a:t>analyzes</a:t>
            </a:r>
            <a:r>
              <a:rPr lang="en-IN" sz="1800" dirty="0">
                <a:latin typeface="Times New Roman" pitchFamily="18" charset="0"/>
                <a:cs typeface="Times New Roman" pitchFamily="18" charset="0"/>
              </a:rPr>
              <a:t> the sequential nature of video frames. Unlike standard LSTM, Bi-LSTM processes information in both forward and backward directions, enabling the model to capture long-term dependencies and subtle temporal inconsistencies across frames. This module is essential in detecting manipulations that may not be visible in a single frame but become evident when observing frame-to-frame transitions.</a:t>
            </a:r>
          </a:p>
        </p:txBody>
      </p:sp>
      <p:sp>
        <p:nvSpPr>
          <p:cNvPr id="5" name="TextBox 4">
            <a:extLst>
              <a:ext uri="{FF2B5EF4-FFF2-40B4-BE49-F238E27FC236}">
                <a16:creationId xmlns:a16="http://schemas.microsoft.com/office/drawing/2014/main" id="{EE74564F-FE84-C0E4-19CA-CA8016016A5D}"/>
              </a:ext>
            </a:extLst>
          </p:cNvPr>
          <p:cNvSpPr txBox="1"/>
          <p:nvPr/>
        </p:nvSpPr>
        <p:spPr>
          <a:xfrm>
            <a:off x="409903" y="553109"/>
            <a:ext cx="6901356" cy="458074"/>
          </a:xfrm>
          <a:prstGeom prst="rect">
            <a:avLst/>
          </a:prstGeom>
          <a:noFill/>
        </p:spPr>
        <p:txBody>
          <a:bodyPr wrap="square">
            <a:spAutoFit/>
          </a:bodyPr>
          <a:lstStyle/>
          <a:p>
            <a:pPr marL="0" indent="0" algn="just">
              <a:lnSpc>
                <a:spcPct val="150000"/>
              </a:lnSpc>
              <a:buNone/>
            </a:pPr>
            <a:r>
              <a:rPr lang="en-IN" sz="1800" b="1" dirty="0">
                <a:latin typeface="Times New Roman" pitchFamily="18" charset="0"/>
                <a:cs typeface="Times New Roman" pitchFamily="18" charset="0"/>
              </a:rPr>
              <a:t>TEMPORAL SEQUENCE LEARNING MODULE (BI-LSTM)</a:t>
            </a:r>
            <a:endParaRPr lang="en-IN" sz="1800" dirty="0">
              <a:latin typeface="Times New Roman" pitchFamily="18" charset="0"/>
              <a:cs typeface="Times New Roman" pitchFamily="18" charset="0"/>
            </a:endParaRPr>
          </a:p>
        </p:txBody>
      </p:sp>
      <p:pic>
        <p:nvPicPr>
          <p:cNvPr id="6" name="Image 25">
            <a:extLst>
              <a:ext uri="{FF2B5EF4-FFF2-40B4-BE49-F238E27FC236}">
                <a16:creationId xmlns:a16="http://schemas.microsoft.com/office/drawing/2014/main" id="{221821A7-19FF-434B-0251-9BFA625B74B9}"/>
              </a:ext>
            </a:extLst>
          </p:cNvPr>
          <p:cNvPicPr>
            <a:picLocks/>
          </p:cNvPicPr>
          <p:nvPr/>
        </p:nvPicPr>
        <p:blipFill>
          <a:blip r:embed="rId2" cstate="print"/>
          <a:stretch>
            <a:fillRect/>
          </a:stretch>
        </p:blipFill>
        <p:spPr>
          <a:xfrm>
            <a:off x="1531256" y="3662702"/>
            <a:ext cx="8984343" cy="3148115"/>
          </a:xfrm>
          <a:prstGeom prst="rect">
            <a:avLst/>
          </a:prstGeom>
        </p:spPr>
      </p:pic>
    </p:spTree>
    <p:extLst>
      <p:ext uri="{BB962C8B-B14F-4D97-AF65-F5344CB8AC3E}">
        <p14:creationId xmlns:p14="http://schemas.microsoft.com/office/powerpoint/2010/main" val="1684523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851750-CC19-B4AA-78A5-FD1CC07D940D}"/>
              </a:ext>
            </a:extLst>
          </p:cNvPr>
          <p:cNvSpPr txBox="1"/>
          <p:nvPr/>
        </p:nvSpPr>
        <p:spPr>
          <a:xfrm>
            <a:off x="650328" y="548431"/>
            <a:ext cx="609337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CLASSIFICATION MODULE</a:t>
            </a:r>
          </a:p>
        </p:txBody>
      </p:sp>
      <p:sp>
        <p:nvSpPr>
          <p:cNvPr id="5" name="TextBox 4">
            <a:extLst>
              <a:ext uri="{FF2B5EF4-FFF2-40B4-BE49-F238E27FC236}">
                <a16:creationId xmlns:a16="http://schemas.microsoft.com/office/drawing/2014/main" id="{29795858-673D-C56D-D637-DCBC54C43F71}"/>
              </a:ext>
            </a:extLst>
          </p:cNvPr>
          <p:cNvSpPr txBox="1"/>
          <p:nvPr/>
        </p:nvSpPr>
        <p:spPr>
          <a:xfrm>
            <a:off x="1040525" y="917763"/>
            <a:ext cx="7658099" cy="2031325"/>
          </a:xfrm>
          <a:prstGeom prst="rect">
            <a:avLst/>
          </a:prstGeom>
          <a:noFill/>
        </p:spPr>
        <p:txBody>
          <a:bodyPr wrap="square">
            <a:sp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Identifies whether the uploaded image or video is Real or Fake.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deep learning models such as VIT, Efficient NetB7, and Bi-LSTM.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image and video preprocessing.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Extracts frames and facial features from videos.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Analyzes spatial and temporal features of media content.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Predicts the authenticity of the uploaded content.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Displays the classification result with confidence score. </a:t>
            </a:r>
          </a:p>
        </p:txBody>
      </p:sp>
      <p:sp>
        <p:nvSpPr>
          <p:cNvPr id="7" name="TextBox 6">
            <a:extLst>
              <a:ext uri="{FF2B5EF4-FFF2-40B4-BE49-F238E27FC236}">
                <a16:creationId xmlns:a16="http://schemas.microsoft.com/office/drawing/2014/main" id="{50A9948A-7CF5-733D-8072-1699660FB652}"/>
              </a:ext>
            </a:extLst>
          </p:cNvPr>
          <p:cNvSpPr txBox="1"/>
          <p:nvPr/>
        </p:nvSpPr>
        <p:spPr>
          <a:xfrm>
            <a:off x="587267" y="3539581"/>
            <a:ext cx="609337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REPORT GENERATION MODULE</a:t>
            </a:r>
          </a:p>
        </p:txBody>
      </p:sp>
      <p:sp>
        <p:nvSpPr>
          <p:cNvPr id="8" name="Rectangle 1">
            <a:extLst>
              <a:ext uri="{FF2B5EF4-FFF2-40B4-BE49-F238E27FC236}">
                <a16:creationId xmlns:a16="http://schemas.microsoft.com/office/drawing/2014/main" id="{24A8391C-01E4-BE89-0011-5C069F73FBA6}"/>
              </a:ext>
            </a:extLst>
          </p:cNvPr>
          <p:cNvSpPr>
            <a:spLocks noChangeArrowheads="1"/>
          </p:cNvSpPr>
          <p:nvPr/>
        </p:nvSpPr>
        <p:spPr bwMode="auto">
          <a:xfrm rot="10800000" flipV="1">
            <a:off x="1040525" y="3908913"/>
            <a:ext cx="1195551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detailed analysis reports after detection.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prediction results and file details.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Real/Fake detection status.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Maintains records for future reference.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downloadable report generation feature.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prediction accuracy and confidence values.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users understand the analysis results clearly. </a:t>
            </a:r>
          </a:p>
        </p:txBody>
      </p:sp>
    </p:spTree>
    <p:extLst>
      <p:ext uri="{BB962C8B-B14F-4D97-AF65-F5344CB8AC3E}">
        <p14:creationId xmlns:p14="http://schemas.microsoft.com/office/powerpoint/2010/main" val="1656406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FDE89D-F9C4-D5E8-FF64-2809EF702571}"/>
              </a:ext>
            </a:extLst>
          </p:cNvPr>
          <p:cNvSpPr txBox="1"/>
          <p:nvPr/>
        </p:nvSpPr>
        <p:spPr>
          <a:xfrm>
            <a:off x="-153714" y="416415"/>
            <a:ext cx="6093372" cy="854080"/>
          </a:xfrm>
          <a:prstGeom prst="rect">
            <a:avLst/>
          </a:prstGeom>
          <a:noFill/>
        </p:spPr>
        <p:txBody>
          <a:bodyPr wrap="square">
            <a:spAutoFit/>
          </a:bodyPr>
          <a:lstStyle/>
          <a:p>
            <a:pPr marR="223520" algn="ctr">
              <a:spcBef>
                <a:spcPts val="945"/>
              </a:spcBef>
              <a:buNone/>
            </a:pPr>
            <a:r>
              <a:rPr lang="en-US" sz="1800" b="1" dirty="0">
                <a:effectLst/>
                <a:latin typeface="Times New Roman" panose="02020603050405020304" pitchFamily="18" charset="0"/>
                <a:ea typeface="Times New Roman" panose="02020603050405020304" pitchFamily="18" charset="0"/>
              </a:rPr>
              <a:t>DEEPFAKE DETECTION HOME PAGE </a:t>
            </a:r>
            <a:endParaRPr lang="en-IN" sz="2000" dirty="0">
              <a:effectLst/>
              <a:latin typeface="Times New Roman" panose="02020603050405020304" pitchFamily="18" charset="0"/>
              <a:ea typeface="Times New Roman" panose="02020603050405020304" pitchFamily="18" charset="0"/>
            </a:endParaRPr>
          </a:p>
          <a:p>
            <a:pPr marR="223520" algn="ctr">
              <a:spcBef>
                <a:spcPts val="945"/>
              </a:spcBef>
              <a:buNone/>
            </a:pPr>
            <a:r>
              <a:rPr lang="en-US" sz="2400" b="1"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pic>
        <p:nvPicPr>
          <p:cNvPr id="4" name="Image7">
            <a:extLst>
              <a:ext uri="{FF2B5EF4-FFF2-40B4-BE49-F238E27FC236}">
                <a16:creationId xmlns:a16="http://schemas.microsoft.com/office/drawing/2014/main" id="{6202CC06-3AC1-F1E0-6465-521FBD59C0DE}"/>
              </a:ext>
            </a:extLst>
          </p:cNvPr>
          <p:cNvPicPr>
            <a:picLocks noChangeAspect="1"/>
          </p:cNvPicPr>
          <p:nvPr/>
        </p:nvPicPr>
        <p:blipFill>
          <a:blip r:embed="rId2"/>
          <a:stretch>
            <a:fillRect/>
          </a:stretch>
        </p:blipFill>
        <p:spPr bwMode="auto">
          <a:xfrm>
            <a:off x="1306285" y="1074058"/>
            <a:ext cx="9832571" cy="5152572"/>
          </a:xfrm>
          <a:prstGeom prst="rect">
            <a:avLst/>
          </a:prstGeom>
          <a:noFill/>
        </p:spPr>
      </p:pic>
    </p:spTree>
    <p:extLst>
      <p:ext uri="{BB962C8B-B14F-4D97-AF65-F5344CB8AC3E}">
        <p14:creationId xmlns:p14="http://schemas.microsoft.com/office/powerpoint/2010/main" val="2491613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3C7051-8CA0-D386-5804-6DB01A8B7983}"/>
              </a:ext>
            </a:extLst>
          </p:cNvPr>
          <p:cNvSpPr txBox="1"/>
          <p:nvPr/>
        </p:nvSpPr>
        <p:spPr>
          <a:xfrm>
            <a:off x="350782" y="532007"/>
            <a:ext cx="6093372" cy="938206"/>
          </a:xfrm>
          <a:prstGeom prst="rect">
            <a:avLst/>
          </a:prstGeom>
          <a:noFill/>
        </p:spPr>
        <p:txBody>
          <a:bodyPr wrap="square">
            <a:spAutoFit/>
          </a:bodyPr>
          <a:lstStyle/>
          <a:p>
            <a:pPr marR="223520" algn="ctr">
              <a:spcBef>
                <a:spcPts val="945"/>
              </a:spcBef>
              <a:buNone/>
            </a:pPr>
            <a:r>
              <a:rPr lang="en-US" sz="1800" b="1" dirty="0">
                <a:effectLst/>
                <a:latin typeface="Times New Roman" panose="02020603050405020304" pitchFamily="18" charset="0"/>
                <a:ea typeface="Times New Roman" panose="02020603050405020304" pitchFamily="18" charset="0"/>
              </a:rPr>
              <a:t>DEEPFAKE DETECTION AUTHENTICATION PAGES </a:t>
            </a:r>
            <a:endParaRPr lang="en-IN" sz="2000" dirty="0">
              <a:effectLst/>
              <a:latin typeface="Times New Roman" panose="02020603050405020304" pitchFamily="18" charset="0"/>
              <a:ea typeface="Times New Roman" panose="02020603050405020304" pitchFamily="18" charset="0"/>
            </a:endParaRPr>
          </a:p>
          <a:p>
            <a:pPr algn="just">
              <a:lnSpc>
                <a:spcPct val="150000"/>
              </a:lnSpc>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pic>
        <p:nvPicPr>
          <p:cNvPr id="4" name="Image8">
            <a:extLst>
              <a:ext uri="{FF2B5EF4-FFF2-40B4-BE49-F238E27FC236}">
                <a16:creationId xmlns:a16="http://schemas.microsoft.com/office/drawing/2014/main" id="{9EFBF3ED-03AF-AFEF-4AC6-F034150307F5}"/>
              </a:ext>
            </a:extLst>
          </p:cNvPr>
          <p:cNvPicPr>
            <a:picLocks noChangeAspect="1"/>
          </p:cNvPicPr>
          <p:nvPr/>
        </p:nvPicPr>
        <p:blipFill>
          <a:blip r:embed="rId3"/>
          <a:stretch>
            <a:fillRect/>
          </a:stretch>
        </p:blipFill>
        <p:spPr bwMode="auto">
          <a:xfrm>
            <a:off x="1190171" y="1001110"/>
            <a:ext cx="9703801" cy="5563176"/>
          </a:xfrm>
          <a:prstGeom prst="rect">
            <a:avLst/>
          </a:prstGeom>
          <a:noFill/>
        </p:spPr>
      </p:pic>
    </p:spTree>
    <p:extLst>
      <p:ext uri="{BB962C8B-B14F-4D97-AF65-F5344CB8AC3E}">
        <p14:creationId xmlns:p14="http://schemas.microsoft.com/office/powerpoint/2010/main" val="998950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02C39B-426C-D3B5-CA35-BD843DE116EF}"/>
              </a:ext>
            </a:extLst>
          </p:cNvPr>
          <p:cNvSpPr txBox="1"/>
          <p:nvPr/>
        </p:nvSpPr>
        <p:spPr>
          <a:xfrm>
            <a:off x="571259" y="458503"/>
            <a:ext cx="6092890" cy="369332"/>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UPLOAD &amp; YOUTUBE DETECTION </a:t>
            </a:r>
            <a:endParaRPr lang="en-IN" dirty="0"/>
          </a:p>
        </p:txBody>
      </p:sp>
      <p:pic>
        <p:nvPicPr>
          <p:cNvPr id="4" name="Image9">
            <a:extLst>
              <a:ext uri="{FF2B5EF4-FFF2-40B4-BE49-F238E27FC236}">
                <a16:creationId xmlns:a16="http://schemas.microsoft.com/office/drawing/2014/main" id="{EEDB8315-B738-F4FB-99AB-2D9BDDDEB105}"/>
              </a:ext>
            </a:extLst>
          </p:cNvPr>
          <p:cNvPicPr>
            <a:picLocks noChangeAspect="1"/>
          </p:cNvPicPr>
          <p:nvPr/>
        </p:nvPicPr>
        <p:blipFill>
          <a:blip r:embed="rId2"/>
          <a:stretch>
            <a:fillRect/>
          </a:stretch>
        </p:blipFill>
        <p:spPr bwMode="auto">
          <a:xfrm>
            <a:off x="1248228" y="1107751"/>
            <a:ext cx="9695543" cy="4978400"/>
          </a:xfrm>
          <a:prstGeom prst="rect">
            <a:avLst/>
          </a:prstGeom>
          <a:noFill/>
        </p:spPr>
      </p:pic>
    </p:spTree>
    <p:extLst>
      <p:ext uri="{BB962C8B-B14F-4D97-AF65-F5344CB8AC3E}">
        <p14:creationId xmlns:p14="http://schemas.microsoft.com/office/powerpoint/2010/main" val="255570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DB4E04-D3AF-9177-5414-CD44D32D0A67}"/>
              </a:ext>
            </a:extLst>
          </p:cNvPr>
          <p:cNvSpPr txBox="1"/>
          <p:nvPr/>
        </p:nvSpPr>
        <p:spPr>
          <a:xfrm>
            <a:off x="713148" y="395441"/>
            <a:ext cx="609289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RESULT</a:t>
            </a:r>
          </a:p>
        </p:txBody>
      </p:sp>
      <p:pic>
        <p:nvPicPr>
          <p:cNvPr id="4" name="Image12">
            <a:extLst>
              <a:ext uri="{FF2B5EF4-FFF2-40B4-BE49-F238E27FC236}">
                <a16:creationId xmlns:a16="http://schemas.microsoft.com/office/drawing/2014/main" id="{8D40A732-04F5-D78A-7B56-6D3F3B01BF7B}"/>
              </a:ext>
            </a:extLst>
          </p:cNvPr>
          <p:cNvPicPr>
            <a:picLocks noChangeAspect="1"/>
          </p:cNvPicPr>
          <p:nvPr/>
        </p:nvPicPr>
        <p:blipFill>
          <a:blip r:embed="rId2"/>
          <a:stretch>
            <a:fillRect/>
          </a:stretch>
        </p:blipFill>
        <p:spPr bwMode="auto">
          <a:xfrm>
            <a:off x="1458686" y="1121747"/>
            <a:ext cx="9274628" cy="5007428"/>
          </a:xfrm>
          <a:prstGeom prst="rect">
            <a:avLst/>
          </a:prstGeom>
          <a:noFill/>
        </p:spPr>
      </p:pic>
    </p:spTree>
    <p:extLst>
      <p:ext uri="{BB962C8B-B14F-4D97-AF65-F5344CB8AC3E}">
        <p14:creationId xmlns:p14="http://schemas.microsoft.com/office/powerpoint/2010/main" val="422408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05EA09-B2D1-1CD2-7D72-C1FDC457993E}"/>
              </a:ext>
            </a:extLst>
          </p:cNvPr>
          <p:cNvSpPr txBox="1"/>
          <p:nvPr/>
        </p:nvSpPr>
        <p:spPr>
          <a:xfrm>
            <a:off x="681617" y="320003"/>
            <a:ext cx="6092890" cy="646331"/>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CONCLUSION </a:t>
            </a:r>
            <a:br>
              <a:rPr lang="en-US" sz="1800" dirty="0"/>
            </a:br>
            <a:endParaRPr lang="en-IN" dirty="0"/>
          </a:p>
        </p:txBody>
      </p:sp>
      <p:sp>
        <p:nvSpPr>
          <p:cNvPr id="5" name="TextBox 4">
            <a:extLst>
              <a:ext uri="{FF2B5EF4-FFF2-40B4-BE49-F238E27FC236}">
                <a16:creationId xmlns:a16="http://schemas.microsoft.com/office/drawing/2014/main" id="{6B1FA478-BC34-DD79-1BF2-EE67C0D306EA}"/>
              </a:ext>
            </a:extLst>
          </p:cNvPr>
          <p:cNvSpPr txBox="1"/>
          <p:nvPr/>
        </p:nvSpPr>
        <p:spPr>
          <a:xfrm>
            <a:off x="885497" y="914722"/>
            <a:ext cx="10011103" cy="50285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developed a deepfake detection framework that integrates Efficient Net, Vision Transformer (VIT), and Bi -LSTM to analyze both spatial and temporal features of videos.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Efficient Net extracts detailed spatial features from video frames, while VIT captures global contextual relationships and attention-based patterns.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Bi-LSTM models temporal dependencies between consecutive frames, helping detect subtle inconsistencies in manipulated videos.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supports flexible input options, including video uploads and YouTube URLs, making it suitable for real-world applications.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video is classified as Real or Fake with a probability-based confidence score, and a concise report is generated for easy understanding.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proposed system improves accuracy, scalability, and reliability in detecting deepfake content and helps maintain trust and security in digital media.</a:t>
            </a:r>
          </a:p>
        </p:txBody>
      </p:sp>
    </p:spTree>
    <p:extLst>
      <p:ext uri="{BB962C8B-B14F-4D97-AF65-F5344CB8AC3E}">
        <p14:creationId xmlns:p14="http://schemas.microsoft.com/office/powerpoint/2010/main" val="1390310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692CB1-3771-F7F3-4416-80C0C1557A7F}"/>
              </a:ext>
            </a:extLst>
          </p:cNvPr>
          <p:cNvSpPr txBox="1"/>
          <p:nvPr/>
        </p:nvSpPr>
        <p:spPr>
          <a:xfrm>
            <a:off x="555735" y="579962"/>
            <a:ext cx="6093372"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FUTURE EHANCEMENT</a:t>
            </a:r>
            <a:endParaRPr lang="en-IN" dirty="0"/>
          </a:p>
        </p:txBody>
      </p:sp>
      <p:sp>
        <p:nvSpPr>
          <p:cNvPr id="7" name="TextBox 6">
            <a:extLst>
              <a:ext uri="{FF2B5EF4-FFF2-40B4-BE49-F238E27FC236}">
                <a16:creationId xmlns:a16="http://schemas.microsoft.com/office/drawing/2014/main" id="{0A8A4744-92B7-AE39-2B11-7A80FED63B2B}"/>
              </a:ext>
            </a:extLst>
          </p:cNvPr>
          <p:cNvSpPr txBox="1"/>
          <p:nvPr/>
        </p:nvSpPr>
        <p:spPr>
          <a:xfrm>
            <a:off x="882870" y="1229710"/>
            <a:ext cx="10941268" cy="3782061"/>
          </a:xfrm>
          <a:prstGeom prst="rect">
            <a:avLst/>
          </a:prstGeom>
          <a:noFill/>
        </p:spPr>
        <p:txBody>
          <a:bodyPr wrap="square">
            <a:spAutoFit/>
          </a:bodyPr>
          <a:lstStyle/>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In the future, the deepfake detection framework can be enhanced by incorporating multimodal analysis, including audio cues, facial expressions, and speech patterns, to improve detection accuracy. </a:t>
            </a:r>
          </a:p>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Integrating attention mechanisms or transformer-based architectures could allow the system to capture more subtle spatial and temporal inconsistencies in videos. </a:t>
            </a:r>
          </a:p>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Additionally, expanding support for real-time streaming platforms and social media APIs would enable continuous monitoring and detection of manipulated content. </a:t>
            </a:r>
          </a:p>
          <a:p>
            <a:pPr marL="285750" indent="-285750" algn="just">
              <a:lnSpc>
                <a:spcPct val="150000"/>
              </a:lnSpc>
              <a:spcAft>
                <a:spcPts val="0"/>
              </a:spcAft>
              <a:buFont typeface="Arial" panose="020B0604020202020204" pitchFamily="34" charset="0"/>
              <a:buChar char="•"/>
            </a:pPr>
            <a:r>
              <a:rPr lang="en-GB" sz="1800" dirty="0">
                <a:latin typeface="Times New Roman" pitchFamily="18" charset="0"/>
                <a:cs typeface="Times New Roman" pitchFamily="18" charset="0"/>
              </a:rPr>
              <a:t>Leveraging federated learning could also allow the model to improve over time using decentralized data while preserving user privacy. These enhancements would make the system more robust, scalable, and effective in combating the evolving threat of deepfake media.</a:t>
            </a:r>
            <a:endParaRPr lang="en-IN" sz="1800" dirty="0">
              <a:effectLst/>
              <a:latin typeface="Times New Roman" pitchFamily="18" charset="0"/>
              <a:ea typeface="Calibri"/>
              <a:cs typeface="Times New Roman" pitchFamily="18" charset="0"/>
            </a:endParaRPr>
          </a:p>
        </p:txBody>
      </p:sp>
    </p:spTree>
    <p:extLst>
      <p:ext uri="{BB962C8B-B14F-4D97-AF65-F5344CB8AC3E}">
        <p14:creationId xmlns:p14="http://schemas.microsoft.com/office/powerpoint/2010/main" val="888409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F5822-E5C2-9A35-1137-3B8E28B424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55" y="470962"/>
            <a:ext cx="10042635" cy="5866776"/>
          </a:xfrm>
          <a:prstGeom prst="rect">
            <a:avLst/>
          </a:prstGeom>
        </p:spPr>
      </p:pic>
    </p:spTree>
    <p:extLst>
      <p:ext uri="{BB962C8B-B14F-4D97-AF65-F5344CB8AC3E}">
        <p14:creationId xmlns:p14="http://schemas.microsoft.com/office/powerpoint/2010/main" val="3317316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38BA0-11E8-E5D4-9358-65688D5D0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366" y="422775"/>
            <a:ext cx="10133045" cy="6012449"/>
          </a:xfrm>
          <a:prstGeom prst="rect">
            <a:avLst/>
          </a:prstGeom>
        </p:spPr>
      </p:pic>
    </p:spTree>
    <p:extLst>
      <p:ext uri="{BB962C8B-B14F-4D97-AF65-F5344CB8AC3E}">
        <p14:creationId xmlns:p14="http://schemas.microsoft.com/office/powerpoint/2010/main" val="899825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B592A6-9153-98D9-B02D-D046698B14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351" y="575446"/>
            <a:ext cx="10095722" cy="5750709"/>
          </a:xfrm>
          <a:prstGeom prst="rect">
            <a:avLst/>
          </a:prstGeom>
        </p:spPr>
      </p:pic>
    </p:spTree>
    <p:extLst>
      <p:ext uri="{BB962C8B-B14F-4D97-AF65-F5344CB8AC3E}">
        <p14:creationId xmlns:p14="http://schemas.microsoft.com/office/powerpoint/2010/main" val="2178094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37C3711FDDAD4A90B0EB7CC69BE776" ma:contentTypeVersion="4" ma:contentTypeDescription="Create a new document." ma:contentTypeScope="" ma:versionID="0229da0b116853ac45b6d53c03e26d34">
  <xsd:schema xmlns:xsd="http://www.w3.org/2001/XMLSchema" xmlns:xs="http://www.w3.org/2001/XMLSchema" xmlns:p="http://schemas.microsoft.com/office/2006/metadata/properties" xmlns:ns3="c7593cad-fb1a-4e21-b9da-aaeff0f24b49" targetNamespace="http://schemas.microsoft.com/office/2006/metadata/properties" ma:root="true" ma:fieldsID="42428f5d5ee656ca03419c8c4edf12ed" ns3:_="">
    <xsd:import namespace="c7593cad-fb1a-4e21-b9da-aaeff0f24b4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593cad-fb1a-4e21-b9da-aaeff0f24b4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4BB7A58-746E-44EB-9267-54A61F9241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593cad-fb1a-4e21-b9da-aaeff0f24b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38E069-455C-4806-A4E4-91F579C71887}">
  <ds:schemaRefs>
    <ds:schemaRef ds:uri="http://schemas.microsoft.com/sharepoint/v3/contenttype/forms"/>
  </ds:schemaRefs>
</ds:datastoreItem>
</file>

<file path=customXml/itemProps3.xml><?xml version="1.0" encoding="utf-8"?>
<ds:datastoreItem xmlns:ds="http://schemas.openxmlformats.org/officeDocument/2006/customXml" ds:itemID="{41A56CC5-CCA1-4A33-A9F5-2E34A16DA2A6}">
  <ds:schemaRefs>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 ds:uri="http://schemas.microsoft.com/office/2006/metadata/properties"/>
    <ds:schemaRef ds:uri="c7593cad-fb1a-4e21-b9da-aaeff0f24b4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311</TotalTime>
  <Words>2370</Words>
  <Application>Microsoft Office PowerPoint</Application>
  <PresentationFormat>Widescreen</PresentationFormat>
  <Paragraphs>263</Paragraphs>
  <Slides>30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Times New Roman</vt:lpstr>
      <vt:lpstr>Office Theme</vt:lpstr>
      <vt:lpstr>DEPARTMENT OF ARTIFICIAL INTELLIGENCE AND DATA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S0308097</dc:creator>
  <cp:lastModifiedBy>S0308097</cp:lastModifiedBy>
  <cp:revision>7</cp:revision>
  <dcterms:created xsi:type="dcterms:W3CDTF">2026-05-10T05:29:54Z</dcterms:created>
  <dcterms:modified xsi:type="dcterms:W3CDTF">2026-05-13T06:27:56Z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0x010100AF37C3711FDDAD4A90B0EB7CC69BE776</vt:lpwstr>
  </property>
</Properties>
</file>